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59" r:id="rId5"/>
    <p:sldId id="260" r:id="rId6"/>
    <p:sldId id="261" r:id="rId7"/>
    <p:sldId id="262" r:id="rId8"/>
    <p:sldId id="264" r:id="rId9"/>
    <p:sldId id="265" r:id="rId10"/>
    <p:sldId id="266" r:id="rId11"/>
    <p:sldId id="270" r:id="rId12"/>
    <p:sldId id="267"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80"/>
    <p:restoredTop sz="78793"/>
  </p:normalViewPr>
  <p:slideViewPr>
    <p:cSldViewPr snapToGrid="0">
      <p:cViewPr varScale="1">
        <p:scale>
          <a:sx n="86" d="100"/>
          <a:sy n="86" d="100"/>
        </p:scale>
        <p:origin x="9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177B5-648F-B443-BBB4-B6E3AD4331B7}" type="datetimeFigureOut">
              <a:rPr lang="en-US" smtClean="0"/>
              <a:t>10/9/25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BB5775-1DF9-9A4F-8365-AD638C658209}" type="slidenum">
              <a:rPr lang="en-US" smtClean="0"/>
              <a:t>‹#›</a:t>
            </a:fld>
            <a:endParaRPr lang="en-US"/>
          </a:p>
        </p:txBody>
      </p:sp>
    </p:spTree>
    <p:extLst>
      <p:ext uri="{BB962C8B-B14F-4D97-AF65-F5344CB8AC3E}">
        <p14:creationId xmlns:p14="http://schemas.microsoft.com/office/powerpoint/2010/main" val="369606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examined the Manchester bombing in 2017. The false misinformation spread over twitter that an illegal alien refugee from Libya was responsible for the attack. This resulted in a lot of negative sentiment towards immigrants. Now whatever you feel Bout the subject, this was false, but widely believed in the coming hours of the event occurring. This study suggested that </a:t>
            </a:r>
            <a:r>
              <a:rPr lang="en-US" dirty="0" err="1"/>
              <a:t>hatespeech</a:t>
            </a:r>
            <a:r>
              <a:rPr lang="en-US" dirty="0"/>
              <a:t> and misinformation went hand in hand. I wanted to explore that and I used the GDELT database to look at other events where </a:t>
            </a:r>
            <a:r>
              <a:rPr lang="en-US" dirty="0" err="1"/>
              <a:t>hatespeech</a:t>
            </a:r>
            <a:r>
              <a:rPr lang="en-US" dirty="0"/>
              <a:t> and misinformation.</a:t>
            </a:r>
          </a:p>
        </p:txBody>
      </p:sp>
      <p:sp>
        <p:nvSpPr>
          <p:cNvPr id="4" name="Slide Number Placeholder 3"/>
          <p:cNvSpPr>
            <a:spLocks noGrp="1"/>
          </p:cNvSpPr>
          <p:nvPr>
            <p:ph type="sldNum" sz="quarter" idx="5"/>
          </p:nvPr>
        </p:nvSpPr>
        <p:spPr/>
        <p:txBody>
          <a:bodyPr/>
          <a:lstStyle/>
          <a:p>
            <a:fld id="{ACBB5775-1DF9-9A4F-8365-AD638C658209}" type="slidenum">
              <a:rPr lang="en-US" smtClean="0"/>
              <a:t>2</a:t>
            </a:fld>
            <a:endParaRPr lang="en-US"/>
          </a:p>
        </p:txBody>
      </p:sp>
    </p:spTree>
    <p:extLst>
      <p:ext uri="{BB962C8B-B14F-4D97-AF65-F5344CB8AC3E}">
        <p14:creationId xmlns:p14="http://schemas.microsoft.com/office/powerpoint/2010/main" val="146779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GDELT Project (Global Database of Events, Language, and Tone)</a:t>
            </a:r>
            <a:r>
              <a:rPr lang="en-US" dirty="0"/>
              <a:t> is an open database that continuously monitors the world’s news media in over 100 languages and transforms it into structured data for analysis.</a:t>
            </a:r>
          </a:p>
          <a:p>
            <a:endParaRPr lang="en-US" dirty="0"/>
          </a:p>
          <a:p>
            <a:r>
              <a:rPr lang="en-US" dirty="0"/>
              <a:t>It grabs news sources every 15 minutes and reports events, actors, location, tone, and news sources. It is a very large database.</a:t>
            </a:r>
          </a:p>
        </p:txBody>
      </p:sp>
      <p:sp>
        <p:nvSpPr>
          <p:cNvPr id="4" name="Slide Number Placeholder 3"/>
          <p:cNvSpPr>
            <a:spLocks noGrp="1"/>
          </p:cNvSpPr>
          <p:nvPr>
            <p:ph type="sldNum" sz="quarter" idx="5"/>
          </p:nvPr>
        </p:nvSpPr>
        <p:spPr/>
        <p:txBody>
          <a:bodyPr/>
          <a:lstStyle/>
          <a:p>
            <a:fld id="{ACBB5775-1DF9-9A4F-8365-AD638C658209}" type="slidenum">
              <a:rPr lang="en-US" smtClean="0"/>
              <a:t>3</a:t>
            </a:fld>
            <a:endParaRPr lang="en-US"/>
          </a:p>
        </p:txBody>
      </p:sp>
    </p:spTree>
    <p:extLst>
      <p:ext uri="{BB962C8B-B14F-4D97-AF65-F5344CB8AC3E}">
        <p14:creationId xmlns:p14="http://schemas.microsoft.com/office/powerpoint/2010/main" val="194155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spare you the boring data workup- I essentially narrowed down the large csv into the location, tone, event type. </a:t>
            </a:r>
            <a:r>
              <a:rPr lang="en-US" dirty="0" err="1"/>
              <a:t>Gdelt</a:t>
            </a:r>
            <a:r>
              <a:rPr lang="en-US" dirty="0"/>
              <a:t> tries to keep it as consistent as possible, but it is impossible with breaking news and unverified reporting. I grabbed the news article and extracted the text data. Even with narrowing it down, I was looking at a lot of random data that didn’t have to do with the event.</a:t>
            </a:r>
          </a:p>
        </p:txBody>
      </p:sp>
      <p:sp>
        <p:nvSpPr>
          <p:cNvPr id="4" name="Slide Number Placeholder 3"/>
          <p:cNvSpPr>
            <a:spLocks noGrp="1"/>
          </p:cNvSpPr>
          <p:nvPr>
            <p:ph type="sldNum" sz="quarter" idx="5"/>
          </p:nvPr>
        </p:nvSpPr>
        <p:spPr/>
        <p:txBody>
          <a:bodyPr/>
          <a:lstStyle/>
          <a:p>
            <a:fld id="{ACBB5775-1DF9-9A4F-8365-AD638C658209}" type="slidenum">
              <a:rPr lang="en-US" smtClean="0"/>
              <a:t>4</a:t>
            </a:fld>
            <a:endParaRPr lang="en-US"/>
          </a:p>
        </p:txBody>
      </p:sp>
    </p:spTree>
    <p:extLst>
      <p:ext uri="{BB962C8B-B14F-4D97-AF65-F5344CB8AC3E}">
        <p14:creationId xmlns:p14="http://schemas.microsoft.com/office/powerpoint/2010/main" val="1509740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 it through </a:t>
            </a:r>
            <a:r>
              <a:rPr lang="en-US" dirty="0" err="1"/>
              <a:t>berttopic</a:t>
            </a:r>
            <a:r>
              <a:rPr lang="en-US" dirty="0"/>
              <a:t>. For filtering. Which is a great since I didn’t know what any of these words meant in May when I started. It did 4 of the steps for me. </a:t>
            </a:r>
            <a:r>
              <a:rPr lang="en-US" dirty="0" err="1"/>
              <a:t>Remmeber</a:t>
            </a:r>
            <a:r>
              <a:rPr lang="en-US" dirty="0"/>
              <a:t> we are looking for Orlando nightclub, but a lot of other topics bubbled to the surface. These are the topics out of a 6000 articles.</a:t>
            </a:r>
          </a:p>
        </p:txBody>
      </p:sp>
      <p:sp>
        <p:nvSpPr>
          <p:cNvPr id="4" name="Slide Number Placeholder 3"/>
          <p:cNvSpPr>
            <a:spLocks noGrp="1"/>
          </p:cNvSpPr>
          <p:nvPr>
            <p:ph type="sldNum" sz="quarter" idx="5"/>
          </p:nvPr>
        </p:nvSpPr>
        <p:spPr/>
        <p:txBody>
          <a:bodyPr/>
          <a:lstStyle/>
          <a:p>
            <a:fld id="{ACBB5775-1DF9-9A4F-8365-AD638C658209}" type="slidenum">
              <a:rPr lang="en-US" smtClean="0"/>
              <a:t>5</a:t>
            </a:fld>
            <a:endParaRPr lang="en-US"/>
          </a:p>
        </p:txBody>
      </p:sp>
    </p:spTree>
    <p:extLst>
      <p:ext uri="{BB962C8B-B14F-4D97-AF65-F5344CB8AC3E}">
        <p14:creationId xmlns:p14="http://schemas.microsoft.com/office/powerpoint/2010/main" val="1142159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map of where the topics were placed in space. However, the issue was these topic coordinates, did not match to the hierarchal clustering. There was no way for me to filter using this.  </a:t>
            </a:r>
          </a:p>
        </p:txBody>
      </p:sp>
      <p:sp>
        <p:nvSpPr>
          <p:cNvPr id="4" name="Slide Number Placeholder 3"/>
          <p:cNvSpPr>
            <a:spLocks noGrp="1"/>
          </p:cNvSpPr>
          <p:nvPr>
            <p:ph type="sldNum" sz="quarter" idx="5"/>
          </p:nvPr>
        </p:nvSpPr>
        <p:spPr/>
        <p:txBody>
          <a:bodyPr/>
          <a:lstStyle/>
          <a:p>
            <a:fld id="{ACBB5775-1DF9-9A4F-8365-AD638C658209}" type="slidenum">
              <a:rPr lang="en-US" smtClean="0"/>
              <a:t>6</a:t>
            </a:fld>
            <a:endParaRPr lang="en-US"/>
          </a:p>
        </p:txBody>
      </p:sp>
    </p:spTree>
    <p:extLst>
      <p:ext uri="{BB962C8B-B14F-4D97-AF65-F5344CB8AC3E}">
        <p14:creationId xmlns:p14="http://schemas.microsoft.com/office/powerpoint/2010/main" val="3343324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lets ignore the filtering and run it through models to detect </a:t>
            </a:r>
            <a:r>
              <a:rPr lang="en-US" dirty="0" err="1"/>
              <a:t>hatespeech</a:t>
            </a:r>
            <a:r>
              <a:rPr lang="en-US" dirty="0"/>
              <a:t>. Widely different results for the same dataset. </a:t>
            </a:r>
          </a:p>
          <a:p>
            <a:endParaRPr lang="en-US" dirty="0"/>
          </a:p>
          <a:p>
            <a:r>
              <a:rPr lang="en-US" dirty="0"/>
              <a:t>This is </a:t>
            </a:r>
            <a:r>
              <a:rPr lang="en-US" dirty="0" err="1"/>
              <a:t>kinda</a:t>
            </a:r>
            <a:r>
              <a:rPr lang="en-US" dirty="0"/>
              <a:t> where we called it quits on this matter for several reasons, </a:t>
            </a:r>
          </a:p>
          <a:p>
            <a:pPr marL="228600" indent="-228600">
              <a:buAutoNum type="arabicPeriod"/>
            </a:pPr>
            <a:r>
              <a:rPr lang="en-US" dirty="0"/>
              <a:t>The data we needed wasn’t there. The original paper used twitter for sources but since twitter became X, all </a:t>
            </a:r>
            <a:r>
              <a:rPr lang="en-US" dirty="0" err="1"/>
              <a:t>api</a:t>
            </a:r>
            <a:r>
              <a:rPr lang="en-US" dirty="0"/>
              <a:t> to collect data has been closed off. No Scientists can grab any twitter data in any form since it was bought out.</a:t>
            </a:r>
          </a:p>
          <a:p>
            <a:pPr marL="228600" indent="-228600">
              <a:buAutoNum type="arabicPeriod"/>
            </a:pPr>
            <a:r>
              <a:rPr lang="en-US" dirty="0"/>
              <a:t>The hate speech models were outdated. All of these were made to detect </a:t>
            </a:r>
            <a:r>
              <a:rPr lang="en-US" dirty="0" err="1"/>
              <a:t>hatespeech</a:t>
            </a:r>
            <a:r>
              <a:rPr lang="en-US" dirty="0"/>
              <a:t> in tweets or social media posts. I wasn’t running it on tweets I was running it on long lengthy news articles. Explicit hate speech is a lot rarer and biased is a lot more nuanced.</a:t>
            </a:r>
          </a:p>
          <a:p>
            <a:pPr marL="228600" indent="-228600">
              <a:buAutoNum type="arabicPeriod"/>
            </a:pPr>
            <a:r>
              <a:rPr lang="en-US" dirty="0"/>
              <a:t>No filtering. I could filter by keywords but to do this for every news event. The goal of the research was to do this at a much larger scale and that isn’t efficient.</a:t>
            </a:r>
          </a:p>
        </p:txBody>
      </p:sp>
      <p:sp>
        <p:nvSpPr>
          <p:cNvPr id="4" name="Slide Number Placeholder 3"/>
          <p:cNvSpPr>
            <a:spLocks noGrp="1"/>
          </p:cNvSpPr>
          <p:nvPr>
            <p:ph type="sldNum" sz="quarter" idx="5"/>
          </p:nvPr>
        </p:nvSpPr>
        <p:spPr/>
        <p:txBody>
          <a:bodyPr/>
          <a:lstStyle/>
          <a:p>
            <a:fld id="{ACBB5775-1DF9-9A4F-8365-AD638C658209}" type="slidenum">
              <a:rPr lang="en-US" smtClean="0"/>
              <a:t>7</a:t>
            </a:fld>
            <a:endParaRPr lang="en-US"/>
          </a:p>
        </p:txBody>
      </p:sp>
    </p:spTree>
    <p:extLst>
      <p:ext uri="{BB962C8B-B14F-4D97-AF65-F5344CB8AC3E}">
        <p14:creationId xmlns:p14="http://schemas.microsoft.com/office/powerpoint/2010/main" val="2848279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8</a:t>
            </a:fld>
            <a:endParaRPr lang="en-US"/>
          </a:p>
        </p:txBody>
      </p:sp>
    </p:spTree>
    <p:extLst>
      <p:ext uri="{BB962C8B-B14F-4D97-AF65-F5344CB8AC3E}">
        <p14:creationId xmlns:p14="http://schemas.microsoft.com/office/powerpoint/2010/main" val="151028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event similarity currently determined</a:t>
            </a:r>
          </a:p>
          <a:p>
            <a:endParaRPr lang="en-US" dirty="0"/>
          </a:p>
          <a:p>
            <a:r>
              <a:rPr lang="en-US" dirty="0"/>
              <a:t>Hope is we can track history repeating itself by plotting </a:t>
            </a:r>
          </a:p>
        </p:txBody>
      </p:sp>
      <p:sp>
        <p:nvSpPr>
          <p:cNvPr id="4" name="Slide Number Placeholder 3"/>
          <p:cNvSpPr>
            <a:spLocks noGrp="1"/>
          </p:cNvSpPr>
          <p:nvPr>
            <p:ph type="sldNum" sz="quarter" idx="5"/>
          </p:nvPr>
        </p:nvSpPr>
        <p:spPr/>
        <p:txBody>
          <a:bodyPr/>
          <a:lstStyle/>
          <a:p>
            <a:fld id="{ACBB5775-1DF9-9A4F-8365-AD638C658209}" type="slidenum">
              <a:rPr lang="en-US" smtClean="0"/>
              <a:t>9</a:t>
            </a:fld>
            <a:endParaRPr lang="en-US"/>
          </a:p>
        </p:txBody>
      </p:sp>
    </p:spTree>
    <p:extLst>
      <p:ext uri="{BB962C8B-B14F-4D97-AF65-F5344CB8AC3E}">
        <p14:creationId xmlns:p14="http://schemas.microsoft.com/office/powerpoint/2010/main" val="122697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 been explored before but was used by </a:t>
            </a:r>
            <a:r>
              <a:rPr lang="en-US" sz="1200" b="0" i="0" u="none" strike="noStrike" kern="1200" dirty="0">
                <a:solidFill>
                  <a:schemeClr val="tx1"/>
                </a:solidFill>
                <a:effectLst/>
                <a:latin typeface="+mn-lt"/>
                <a:ea typeface="+mn-ea"/>
                <a:cs typeface="+mn-cs"/>
              </a:rPr>
              <a:t>focusing nouns, which, for specific stories makes sense. But I believe verbs also contribute if we want to cluster events themselves later.</a:t>
            </a:r>
          </a:p>
          <a:p>
            <a:r>
              <a:rPr lang="en-US" sz="1200" b="0" i="0" u="none" strike="noStrike" kern="1200" dirty="0">
                <a:solidFill>
                  <a:schemeClr val="tx1"/>
                </a:solidFill>
                <a:effectLst/>
                <a:latin typeface="+mn-lt"/>
                <a:ea typeface="+mn-ea"/>
                <a:cs typeface="+mn-cs"/>
              </a:rPr>
              <a:t>Also, a brute force approach was used and only looked at in 15 minute intervals. So news sources from 15. minutes of </a:t>
            </a:r>
            <a:r>
              <a:rPr lang="en-US" sz="1200" b="0" i="0" u="none" strike="noStrike" kern="1200" dirty="0" err="1">
                <a:solidFill>
                  <a:schemeClr val="tx1"/>
                </a:solidFill>
                <a:effectLst/>
                <a:latin typeface="+mn-lt"/>
                <a:ea typeface="+mn-ea"/>
                <a:cs typeface="+mn-cs"/>
              </a:rPr>
              <a:t>eachother</a:t>
            </a:r>
            <a:r>
              <a:rPr lang="en-US" sz="1200" b="0" i="0" u="none" strike="noStrike" kern="1200" dirty="0">
                <a:solidFill>
                  <a:schemeClr val="tx1"/>
                </a:solidFill>
                <a:effectLst/>
                <a:latin typeface="+mn-lt"/>
                <a:ea typeface="+mn-ea"/>
                <a:cs typeface="+mn-cs"/>
              </a:rPr>
              <a:t> would be the only ones compared.</a:t>
            </a:r>
          </a:p>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10</a:t>
            </a:fld>
            <a:endParaRPr lang="en-US"/>
          </a:p>
        </p:txBody>
      </p:sp>
    </p:spTree>
    <p:extLst>
      <p:ext uri="{BB962C8B-B14F-4D97-AF65-F5344CB8AC3E}">
        <p14:creationId xmlns:p14="http://schemas.microsoft.com/office/powerpoint/2010/main" val="2464899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11</a:t>
            </a:fld>
            <a:endParaRPr lang="en-US"/>
          </a:p>
        </p:txBody>
      </p:sp>
    </p:spTree>
    <p:extLst>
      <p:ext uri="{BB962C8B-B14F-4D97-AF65-F5344CB8AC3E}">
        <p14:creationId xmlns:p14="http://schemas.microsoft.com/office/powerpoint/2010/main" val="4125331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pypi.org</a:t>
            </a:r>
            <a:r>
              <a:rPr lang="en-US" dirty="0"/>
              <a:t>/project/</a:t>
            </a:r>
            <a:r>
              <a:rPr lang="en-US" dirty="0" err="1"/>
              <a:t>stanford-openie</a:t>
            </a:r>
            <a:r>
              <a:rPr lang="en-US" dirty="0"/>
              <a:t>/</a:t>
            </a:r>
          </a:p>
        </p:txBody>
      </p:sp>
      <p:sp>
        <p:nvSpPr>
          <p:cNvPr id="4" name="Slide Number Placeholder 3"/>
          <p:cNvSpPr>
            <a:spLocks noGrp="1"/>
          </p:cNvSpPr>
          <p:nvPr>
            <p:ph type="sldNum" sz="quarter" idx="5"/>
          </p:nvPr>
        </p:nvSpPr>
        <p:spPr/>
        <p:txBody>
          <a:bodyPr/>
          <a:lstStyle/>
          <a:p>
            <a:fld id="{ACBB5775-1DF9-9A4F-8365-AD638C658209}" type="slidenum">
              <a:rPr lang="en-US" smtClean="0"/>
              <a:t>12</a:t>
            </a:fld>
            <a:endParaRPr lang="en-US"/>
          </a:p>
        </p:txBody>
      </p:sp>
    </p:spTree>
    <p:extLst>
      <p:ext uri="{BB962C8B-B14F-4D97-AF65-F5344CB8AC3E}">
        <p14:creationId xmlns:p14="http://schemas.microsoft.com/office/powerpoint/2010/main" val="2335337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13</a:t>
            </a:fld>
            <a:endParaRPr lang="en-US"/>
          </a:p>
        </p:txBody>
      </p:sp>
    </p:spTree>
    <p:extLst>
      <p:ext uri="{BB962C8B-B14F-4D97-AF65-F5344CB8AC3E}">
        <p14:creationId xmlns:p14="http://schemas.microsoft.com/office/powerpoint/2010/main" val="3130870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14</a:t>
            </a:fld>
            <a:endParaRPr lang="en-US"/>
          </a:p>
        </p:txBody>
      </p:sp>
    </p:spTree>
    <p:extLst>
      <p:ext uri="{BB962C8B-B14F-4D97-AF65-F5344CB8AC3E}">
        <p14:creationId xmlns:p14="http://schemas.microsoft.com/office/powerpoint/2010/main" val="414037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B5775-1DF9-9A4F-8365-AD638C658209}" type="slidenum">
              <a:rPr lang="en-US" smtClean="0"/>
              <a:t>15</a:t>
            </a:fld>
            <a:endParaRPr lang="en-US"/>
          </a:p>
        </p:txBody>
      </p:sp>
    </p:spTree>
    <p:extLst>
      <p:ext uri="{BB962C8B-B14F-4D97-AF65-F5344CB8AC3E}">
        <p14:creationId xmlns:p14="http://schemas.microsoft.com/office/powerpoint/2010/main" val="644771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6FC9-EE85-A334-96B0-536989F194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63523D-56C1-75C4-24C7-CBA7DF98D4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9D1B2F-EF8B-BD3F-2513-9EE711484EBA}"/>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6931A694-3CCF-CDB0-7880-2791C7E1BA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04F53-49CE-ABAE-100C-AC4362D247E5}"/>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1807208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5E775-3C7A-6CC0-6D36-0B9A141216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60E04D-FBCB-4C9C-3CA8-F626F0D04B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8BE70-2ADF-35E2-5C78-39383DA3B2B2}"/>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9F7645C0-821B-24DB-257F-09599946A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36612-1FFB-D45D-9E55-661A60DFCDD0}"/>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436652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65FDE-7642-89DE-F066-8420ED3EE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EE862-23F0-DC62-9433-237DD7B309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FA59D7-5D71-974B-B2D9-3223FA21B073}"/>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9652B62F-0AF3-AC7C-7A5D-46B47D1C0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F1FBBB-C5B2-E572-A07F-000FEDE5F478}"/>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102046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E2EE2-DE81-EC63-261A-2FDFCDDD9A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9D2EAD-C41E-EE84-CEEB-96BDE5BD25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402B6D-52EE-8CB3-08A8-2642668DCD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4F926E-90D8-3336-94AF-7FA1F0830F0D}"/>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6" name="Footer Placeholder 5">
            <a:extLst>
              <a:ext uri="{FF2B5EF4-FFF2-40B4-BE49-F238E27FC236}">
                <a16:creationId xmlns:a16="http://schemas.microsoft.com/office/drawing/2014/main" id="{80C37DF1-4358-9629-E135-8BDE75AB3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EE257-88DD-AD6A-9BD2-D76DF339E565}"/>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752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22230-E19E-8EAE-463C-6047E91C4B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38FC11-14EA-33A4-699D-BDE870DF29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517C1-BD8A-DD10-0B0B-68A92D7321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D1BFC-D647-2096-9C05-2CEE5CCC2D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2D44B8-A1FA-201E-96ED-C922D0DBB2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1BC20-DC49-2969-BB17-8E7666B5A595}"/>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8" name="Footer Placeholder 7">
            <a:extLst>
              <a:ext uri="{FF2B5EF4-FFF2-40B4-BE49-F238E27FC236}">
                <a16:creationId xmlns:a16="http://schemas.microsoft.com/office/drawing/2014/main" id="{4880C5F3-D1C8-1A12-F330-06E0C62581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DE454D-ECBA-C67F-E2E4-58BE312D604E}"/>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4102521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CB25-1CC4-7249-385B-F22D12BC79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98E67C-EDF8-0BE7-F856-86655E1087DB}"/>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4" name="Footer Placeholder 3">
            <a:extLst>
              <a:ext uri="{FF2B5EF4-FFF2-40B4-BE49-F238E27FC236}">
                <a16:creationId xmlns:a16="http://schemas.microsoft.com/office/drawing/2014/main" id="{C8F5D2E2-299A-7464-AD0C-C2667350F6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59DEBA-42C7-42CC-CCBA-3A135AA73259}"/>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9133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696663-06B0-B260-51AD-86A9FB8FD43E}"/>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3" name="Footer Placeholder 2">
            <a:extLst>
              <a:ext uri="{FF2B5EF4-FFF2-40B4-BE49-F238E27FC236}">
                <a16:creationId xmlns:a16="http://schemas.microsoft.com/office/drawing/2014/main" id="{21054BB0-B5C8-C809-7807-4424F031B8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14F397-CABE-14E0-AEB2-4F5FB66E5AD1}"/>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25823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816C-A8AF-19DB-1D51-1921893D05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E3C2FB-2FE1-F029-05F0-CE0CACB0AD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D182CB-6E06-7FB2-37F7-E5D692D882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571D44-ABF2-31C6-70BF-B3B5324AC01B}"/>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6" name="Footer Placeholder 5">
            <a:extLst>
              <a:ext uri="{FF2B5EF4-FFF2-40B4-BE49-F238E27FC236}">
                <a16:creationId xmlns:a16="http://schemas.microsoft.com/office/drawing/2014/main" id="{6E12621B-86E9-FB54-AA4F-B97E07544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F89CBC-06DF-9AB7-9114-475B63E6E6DD}"/>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415775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5BE3E-6DE8-0DC7-74DA-7DC39D75E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4A2C6B-1A04-79DC-A0A8-13EA52F02C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1BF73B-533D-F491-6FCA-91D4BE4AD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8E838-6F0E-F962-FC2C-D9CF1D9DCEAF}"/>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6" name="Footer Placeholder 5">
            <a:extLst>
              <a:ext uri="{FF2B5EF4-FFF2-40B4-BE49-F238E27FC236}">
                <a16:creationId xmlns:a16="http://schemas.microsoft.com/office/drawing/2014/main" id="{1B518591-8278-83AC-6050-3C329B46D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D5B660-D011-8B9D-BE80-553ED8992A9E}"/>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60951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1ABE-E5EC-3F55-969E-474CA9B39E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EA4F0F-881F-304E-CF7D-C84F1A80D6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72DBD-5CFD-5D06-E34F-E5CB6CD0558F}"/>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545E093D-8B0C-3F83-89E6-1D5960A6B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35B6D-F332-4B1C-A568-3807E0CF22BF}"/>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3197647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5A7805-F8DE-5146-547A-110B156578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11DE03-0473-4CFA-F46E-818CD4F12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812F4-3E03-BD0F-129B-C10A11978F22}"/>
              </a:ext>
            </a:extLst>
          </p:cNvPr>
          <p:cNvSpPr>
            <a:spLocks noGrp="1"/>
          </p:cNvSpPr>
          <p:nvPr>
            <p:ph type="dt" sz="half" idx="10"/>
          </p:nvPr>
        </p:nvSpPr>
        <p:spPr/>
        <p:txBody>
          <a:body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B43A68C9-954C-A489-3529-633DA3A96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356A2-F0DC-5726-B2D6-961F4814B013}"/>
              </a:ext>
            </a:extLst>
          </p:cNvPr>
          <p:cNvSpPr>
            <a:spLocks noGrp="1"/>
          </p:cNvSpPr>
          <p:nvPr>
            <p:ph type="sldNum" sz="quarter" idx="12"/>
          </p:nvPr>
        </p:nvSpPr>
        <p:spPr/>
        <p:txBody>
          <a:bodyPr/>
          <a:lstStyle/>
          <a:p>
            <a:fld id="{BE01BE65-461D-E943-916F-6DEC6EFEED63}" type="slidenum">
              <a:rPr lang="en-US" smtClean="0"/>
              <a:t>‹#›</a:t>
            </a:fld>
            <a:endParaRPr lang="en-US"/>
          </a:p>
        </p:txBody>
      </p:sp>
    </p:spTree>
    <p:extLst>
      <p:ext uri="{BB962C8B-B14F-4D97-AF65-F5344CB8AC3E}">
        <p14:creationId xmlns:p14="http://schemas.microsoft.com/office/powerpoint/2010/main" val="281408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1F6F6D-63BD-7D45-072F-338B6DB28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03BFCE-51F5-6668-B961-009E13F47C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D7093-CBEB-FD66-FDB7-F14C5CC5B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BFE181-1418-7048-B8F0-0705399AA7B0}" type="datetimeFigureOut">
              <a:rPr lang="en-US" smtClean="0"/>
              <a:t>10/9/25</a:t>
            </a:fld>
            <a:endParaRPr lang="en-US"/>
          </a:p>
        </p:txBody>
      </p:sp>
      <p:sp>
        <p:nvSpPr>
          <p:cNvPr id="5" name="Footer Placeholder 4">
            <a:extLst>
              <a:ext uri="{FF2B5EF4-FFF2-40B4-BE49-F238E27FC236}">
                <a16:creationId xmlns:a16="http://schemas.microsoft.com/office/drawing/2014/main" id="{315C341F-7D44-779E-233F-67221F5529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46EDB3-6BF9-C070-D62B-BAEAA62C57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01BE65-461D-E943-916F-6DEC6EFEED63}" type="slidenum">
              <a:rPr lang="en-US" smtClean="0"/>
              <a:t>‹#›</a:t>
            </a:fld>
            <a:endParaRPr lang="en-US"/>
          </a:p>
        </p:txBody>
      </p:sp>
    </p:spTree>
    <p:extLst>
      <p:ext uri="{BB962C8B-B14F-4D97-AF65-F5344CB8AC3E}">
        <p14:creationId xmlns:p14="http://schemas.microsoft.com/office/powerpoint/2010/main" val="3216157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36CD8-BB4B-B167-D567-0B8FDD2140C9}"/>
              </a:ext>
            </a:extLst>
          </p:cNvPr>
          <p:cNvSpPr>
            <a:spLocks noGrp="1"/>
          </p:cNvSpPr>
          <p:nvPr>
            <p:ph type="ctrTitle"/>
          </p:nvPr>
        </p:nvSpPr>
        <p:spPr/>
        <p:txBody>
          <a:bodyPr>
            <a:normAutofit fontScale="90000"/>
          </a:bodyPr>
          <a:lstStyle/>
          <a:p>
            <a:r>
              <a:rPr lang="en-US" b="1" dirty="0"/>
              <a:t>Event Similarity in GDELT via Semantic Search</a:t>
            </a:r>
            <a:br>
              <a:rPr lang="en-US" dirty="0"/>
            </a:br>
            <a:endParaRPr lang="en-US" dirty="0"/>
          </a:p>
        </p:txBody>
      </p:sp>
      <p:sp>
        <p:nvSpPr>
          <p:cNvPr id="3" name="Subtitle 2">
            <a:extLst>
              <a:ext uri="{FF2B5EF4-FFF2-40B4-BE49-F238E27FC236}">
                <a16:creationId xmlns:a16="http://schemas.microsoft.com/office/drawing/2014/main" id="{42F2B4BF-CB74-9BC1-7309-AE937BC16BC0}"/>
              </a:ext>
            </a:extLst>
          </p:cNvPr>
          <p:cNvSpPr>
            <a:spLocks noGrp="1"/>
          </p:cNvSpPr>
          <p:nvPr>
            <p:ph type="subTitle" idx="1"/>
          </p:nvPr>
        </p:nvSpPr>
        <p:spPr/>
        <p:txBody>
          <a:bodyPr/>
          <a:lstStyle/>
          <a:p>
            <a:r>
              <a:rPr lang="en-US" dirty="0"/>
              <a:t>Emily Lugos, Dr. Mauricio </a:t>
            </a:r>
            <a:r>
              <a:rPr lang="en-US" dirty="0" err="1"/>
              <a:t>Gruppi</a:t>
            </a:r>
            <a:endParaRPr lang="en-US" dirty="0"/>
          </a:p>
        </p:txBody>
      </p:sp>
    </p:spTree>
    <p:extLst>
      <p:ext uri="{BB962C8B-B14F-4D97-AF65-F5344CB8AC3E}">
        <p14:creationId xmlns:p14="http://schemas.microsoft.com/office/powerpoint/2010/main" val="7068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0894-5AA8-32F5-54FA-AEE073EBD2F7}"/>
              </a:ext>
            </a:extLst>
          </p:cNvPr>
          <p:cNvSpPr>
            <a:spLocks noGrp="1"/>
          </p:cNvSpPr>
          <p:nvPr>
            <p:ph type="title"/>
          </p:nvPr>
        </p:nvSpPr>
        <p:spPr/>
        <p:txBody>
          <a:bodyPr>
            <a:normAutofit fontScale="90000"/>
          </a:bodyPr>
          <a:lstStyle/>
          <a:p>
            <a:r>
              <a:rPr lang="en-US" b="1" dirty="0"/>
              <a:t>Characterize Hate Speech &amp; Misinformation with ML</a:t>
            </a:r>
            <a:br>
              <a:rPr lang="en-US" dirty="0"/>
            </a:br>
            <a:endParaRPr lang="en-US" dirty="0"/>
          </a:p>
        </p:txBody>
      </p:sp>
      <p:pic>
        <p:nvPicPr>
          <p:cNvPr id="5" name="Content Placeholder 4" descr="A screenshot of a document&#10;&#10;AI-generated content may be incorrect.">
            <a:extLst>
              <a:ext uri="{FF2B5EF4-FFF2-40B4-BE49-F238E27FC236}">
                <a16:creationId xmlns:a16="http://schemas.microsoft.com/office/drawing/2014/main" id="{5E13F9B0-E021-2D25-15F4-8CABC8057A3E}"/>
              </a:ext>
            </a:extLst>
          </p:cNvPr>
          <p:cNvPicPr>
            <a:picLocks noGrp="1" noChangeAspect="1"/>
          </p:cNvPicPr>
          <p:nvPr>
            <p:ph idx="1"/>
          </p:nvPr>
        </p:nvPicPr>
        <p:blipFill>
          <a:blip r:embed="rId3"/>
          <a:stretch>
            <a:fillRect/>
          </a:stretch>
        </p:blipFill>
        <p:spPr>
          <a:xfrm>
            <a:off x="838200" y="1354193"/>
            <a:ext cx="8025581" cy="5138682"/>
          </a:xfrm>
        </p:spPr>
      </p:pic>
    </p:spTree>
    <p:extLst>
      <p:ext uri="{BB962C8B-B14F-4D97-AF65-F5344CB8AC3E}">
        <p14:creationId xmlns:p14="http://schemas.microsoft.com/office/powerpoint/2010/main" val="3288900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5568-D1FD-78DD-D6CE-223150212A4F}"/>
              </a:ext>
            </a:extLst>
          </p:cNvPr>
          <p:cNvSpPr>
            <a:spLocks noGrp="1"/>
          </p:cNvSpPr>
          <p:nvPr>
            <p:ph type="title"/>
          </p:nvPr>
        </p:nvSpPr>
        <p:spPr/>
        <p:txBody>
          <a:bodyPr/>
          <a:lstStyle/>
          <a:p>
            <a:r>
              <a:rPr lang="en-US" dirty="0"/>
              <a:t>GDELT Database</a:t>
            </a:r>
          </a:p>
        </p:txBody>
      </p:sp>
      <p:sp>
        <p:nvSpPr>
          <p:cNvPr id="3" name="Content Placeholder 2">
            <a:extLst>
              <a:ext uri="{FF2B5EF4-FFF2-40B4-BE49-F238E27FC236}">
                <a16:creationId xmlns:a16="http://schemas.microsoft.com/office/drawing/2014/main" id="{C9727EA2-E6E0-E6E5-FB00-AE31772B59DE}"/>
              </a:ext>
            </a:extLst>
          </p:cNvPr>
          <p:cNvSpPr>
            <a:spLocks noGrp="1"/>
          </p:cNvSpPr>
          <p:nvPr>
            <p:ph idx="1"/>
          </p:nvPr>
        </p:nvSpPr>
        <p:spPr/>
        <p:txBody>
          <a:bodyPr/>
          <a:lstStyle/>
          <a:p>
            <a:endParaRPr lang="en-US"/>
          </a:p>
        </p:txBody>
      </p:sp>
      <p:pic>
        <p:nvPicPr>
          <p:cNvPr id="1026" name="Picture 2" descr="Data Tactics: GDELT-Board and GDELT Country Network Dashboard – The GDELT  Project">
            <a:extLst>
              <a:ext uri="{FF2B5EF4-FFF2-40B4-BE49-F238E27FC236}">
                <a16:creationId xmlns:a16="http://schemas.microsoft.com/office/drawing/2014/main" id="{0DC1C9AB-DB81-7B54-BD39-3D8F2506C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54" y="1348230"/>
            <a:ext cx="10697291" cy="5306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44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48A7F-1353-C9C2-5C97-2438BA1BC76F}"/>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BD3B2C79-A299-4EF4-04F7-B6136DBE9E70}"/>
              </a:ext>
            </a:extLst>
          </p:cNvPr>
          <p:cNvSpPr>
            <a:spLocks noGrp="1"/>
          </p:cNvSpPr>
          <p:nvPr>
            <p:ph idx="1"/>
          </p:nvPr>
        </p:nvSpPr>
        <p:spPr/>
        <p:txBody>
          <a:bodyPr/>
          <a:lstStyle/>
          <a:p>
            <a:r>
              <a:rPr lang="en-US" dirty="0"/>
              <a:t>2014 Isla Vista killings</a:t>
            </a:r>
          </a:p>
          <a:p>
            <a:r>
              <a:rPr lang="en-US" dirty="0"/>
              <a:t>2016 Pulse Nightclub shooting</a:t>
            </a:r>
          </a:p>
          <a:p>
            <a:r>
              <a:rPr lang="en-US" dirty="0"/>
              <a:t>2017 Charlottesville car attack</a:t>
            </a:r>
          </a:p>
          <a:p>
            <a:r>
              <a:rPr lang="en-US" dirty="0"/>
              <a:t>2017 New York City truck attack</a:t>
            </a:r>
          </a:p>
          <a:p>
            <a:r>
              <a:rPr lang="en-US" dirty="0"/>
              <a:t>2025 Boulder Terror Attack</a:t>
            </a:r>
            <a:br>
              <a:rPr lang="en-US" dirty="0"/>
            </a:br>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00AD49B8-4406-CEBE-5E11-B00846CB7B5C}"/>
              </a:ext>
            </a:extLst>
          </p:cNvPr>
          <p:cNvPicPr>
            <a:picLocks noChangeAspect="1"/>
          </p:cNvPicPr>
          <p:nvPr/>
        </p:nvPicPr>
        <p:blipFill>
          <a:blip r:embed="rId3"/>
          <a:stretch>
            <a:fillRect/>
          </a:stretch>
        </p:blipFill>
        <p:spPr>
          <a:xfrm>
            <a:off x="6167165" y="861348"/>
            <a:ext cx="6024835" cy="3306615"/>
          </a:xfrm>
          <a:prstGeom prst="rect">
            <a:avLst/>
          </a:prstGeom>
        </p:spPr>
      </p:pic>
    </p:spTree>
    <p:extLst>
      <p:ext uri="{BB962C8B-B14F-4D97-AF65-F5344CB8AC3E}">
        <p14:creationId xmlns:p14="http://schemas.microsoft.com/office/powerpoint/2010/main" val="4146215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ABD2B-A437-68F6-FADE-536E38AC9124}"/>
              </a:ext>
            </a:extLst>
          </p:cNvPr>
          <p:cNvSpPr>
            <a:spLocks noGrp="1"/>
          </p:cNvSpPr>
          <p:nvPr>
            <p:ph type="title"/>
          </p:nvPr>
        </p:nvSpPr>
        <p:spPr/>
        <p:txBody>
          <a:bodyPr/>
          <a:lstStyle/>
          <a:p>
            <a:r>
              <a:rPr lang="en-US" dirty="0" err="1"/>
              <a:t>BERTopic</a:t>
            </a:r>
            <a:endParaRPr lang="en-US" dirty="0"/>
          </a:p>
        </p:txBody>
      </p:sp>
      <p:pic>
        <p:nvPicPr>
          <p:cNvPr id="9" name="Picture 8" descr="A diagram of a diagram&#10;&#10;AI-generated content may be incorrect.">
            <a:extLst>
              <a:ext uri="{FF2B5EF4-FFF2-40B4-BE49-F238E27FC236}">
                <a16:creationId xmlns:a16="http://schemas.microsoft.com/office/drawing/2014/main" id="{3ECD5D2A-7A0E-11C5-527C-FDA6ED455942}"/>
              </a:ext>
            </a:extLst>
          </p:cNvPr>
          <p:cNvPicPr>
            <a:picLocks noChangeAspect="1"/>
          </p:cNvPicPr>
          <p:nvPr/>
        </p:nvPicPr>
        <p:blipFill>
          <a:blip r:embed="rId3"/>
          <a:stretch>
            <a:fillRect/>
          </a:stretch>
        </p:blipFill>
        <p:spPr>
          <a:xfrm>
            <a:off x="163890" y="1690688"/>
            <a:ext cx="4838700" cy="3543300"/>
          </a:xfrm>
          <a:prstGeom prst="rect">
            <a:avLst/>
          </a:prstGeom>
        </p:spPr>
      </p:pic>
      <p:pic>
        <p:nvPicPr>
          <p:cNvPr id="10" name="Picture 9" descr="A graph with multiple colored lines&#10;&#10;AI-generated content may be incorrect.">
            <a:extLst>
              <a:ext uri="{FF2B5EF4-FFF2-40B4-BE49-F238E27FC236}">
                <a16:creationId xmlns:a16="http://schemas.microsoft.com/office/drawing/2014/main" id="{AE9EA951-F5F6-2905-742F-578AAB6E1B90}"/>
              </a:ext>
            </a:extLst>
          </p:cNvPr>
          <p:cNvPicPr>
            <a:picLocks noChangeAspect="1"/>
          </p:cNvPicPr>
          <p:nvPr/>
        </p:nvPicPr>
        <p:blipFill>
          <a:blip r:embed="rId4"/>
          <a:srcRect t="6915" r="5364" b="6648"/>
          <a:stretch>
            <a:fillRect/>
          </a:stretch>
        </p:blipFill>
        <p:spPr>
          <a:xfrm>
            <a:off x="5033032" y="1340706"/>
            <a:ext cx="7158968" cy="3759744"/>
          </a:xfrm>
          <a:prstGeom prst="rect">
            <a:avLst/>
          </a:prstGeom>
        </p:spPr>
      </p:pic>
    </p:spTree>
    <p:extLst>
      <p:ext uri="{BB962C8B-B14F-4D97-AF65-F5344CB8AC3E}">
        <p14:creationId xmlns:p14="http://schemas.microsoft.com/office/powerpoint/2010/main" val="349016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map&#10;&#10;AI-generated content may be incorrect.">
            <a:extLst>
              <a:ext uri="{FF2B5EF4-FFF2-40B4-BE49-F238E27FC236}">
                <a16:creationId xmlns:a16="http://schemas.microsoft.com/office/drawing/2014/main" id="{73B3AC65-344C-F419-1CB4-593442339D47}"/>
              </a:ext>
            </a:extLst>
          </p:cNvPr>
          <p:cNvPicPr>
            <a:picLocks noChangeAspect="1"/>
          </p:cNvPicPr>
          <p:nvPr/>
        </p:nvPicPr>
        <p:blipFill>
          <a:blip r:embed="rId3"/>
          <a:srcRect l="6964" r="9769"/>
          <a:stretch>
            <a:fillRect/>
          </a:stretch>
        </p:blipFill>
        <p:spPr>
          <a:xfrm>
            <a:off x="7359629" y="732631"/>
            <a:ext cx="4490357" cy="5392738"/>
          </a:xfrm>
          <a:prstGeom prst="rect">
            <a:avLst/>
          </a:prstGeom>
        </p:spPr>
      </p:pic>
      <p:pic>
        <p:nvPicPr>
          <p:cNvPr id="6" name="Picture 5" descr="A graph with multiple colored lines&#10;&#10;AI-generated content may be incorrect.">
            <a:extLst>
              <a:ext uri="{FF2B5EF4-FFF2-40B4-BE49-F238E27FC236}">
                <a16:creationId xmlns:a16="http://schemas.microsoft.com/office/drawing/2014/main" id="{DA902B4D-8559-008C-5F47-F89D852090EB}"/>
              </a:ext>
            </a:extLst>
          </p:cNvPr>
          <p:cNvPicPr>
            <a:picLocks noChangeAspect="1"/>
          </p:cNvPicPr>
          <p:nvPr/>
        </p:nvPicPr>
        <p:blipFill>
          <a:blip r:embed="rId4"/>
          <a:srcRect t="6915" r="5364" b="6648"/>
          <a:stretch>
            <a:fillRect/>
          </a:stretch>
        </p:blipFill>
        <p:spPr>
          <a:xfrm>
            <a:off x="342014" y="1050725"/>
            <a:ext cx="6579810" cy="3455582"/>
          </a:xfrm>
          <a:prstGeom prst="rect">
            <a:avLst/>
          </a:prstGeom>
        </p:spPr>
      </p:pic>
    </p:spTree>
    <p:extLst>
      <p:ext uri="{BB962C8B-B14F-4D97-AF65-F5344CB8AC3E}">
        <p14:creationId xmlns:p14="http://schemas.microsoft.com/office/powerpoint/2010/main" val="2644800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A38E2C-2BAC-14ED-3750-98BD64665EC5}"/>
              </a:ext>
            </a:extLst>
          </p:cNvPr>
          <p:cNvSpPr>
            <a:spLocks noGrp="1"/>
          </p:cNvSpPr>
          <p:nvPr>
            <p:ph type="title"/>
          </p:nvPr>
        </p:nvSpPr>
        <p:spPr>
          <a:xfrm>
            <a:off x="0" y="-285361"/>
            <a:ext cx="10515600" cy="1325563"/>
          </a:xfrm>
        </p:spPr>
        <p:txBody>
          <a:bodyPr/>
          <a:lstStyle/>
          <a:p>
            <a:r>
              <a:rPr lang="en-US" dirty="0"/>
              <a:t>FL</a:t>
            </a:r>
          </a:p>
        </p:txBody>
      </p:sp>
      <p:pic>
        <p:nvPicPr>
          <p:cNvPr id="5" name="Content Placeholder 6" descr="hateexplain">
            <a:extLst>
              <a:ext uri="{FF2B5EF4-FFF2-40B4-BE49-F238E27FC236}">
                <a16:creationId xmlns:a16="http://schemas.microsoft.com/office/drawing/2014/main" id="{473535A5-FD17-3F32-2715-4AB6ED5ED62B}"/>
              </a:ext>
            </a:extLst>
          </p:cNvPr>
          <p:cNvPicPr>
            <a:picLocks noGrp="1" noChangeAspect="1"/>
          </p:cNvPicPr>
          <p:nvPr>
            <p:ph idx="1"/>
          </p:nvPr>
        </p:nvPicPr>
        <p:blipFill>
          <a:blip r:embed="rId3"/>
          <a:stretch>
            <a:fillRect/>
          </a:stretch>
        </p:blipFill>
        <p:spPr>
          <a:xfrm>
            <a:off x="460828" y="5156210"/>
            <a:ext cx="9689012" cy="1645741"/>
          </a:xfrm>
        </p:spPr>
      </p:pic>
      <p:pic>
        <p:nvPicPr>
          <p:cNvPr id="6" name="Picture 5" descr="twitter fl">
            <a:extLst>
              <a:ext uri="{FF2B5EF4-FFF2-40B4-BE49-F238E27FC236}">
                <a16:creationId xmlns:a16="http://schemas.microsoft.com/office/drawing/2014/main" id="{AA75D6EA-A9CF-75D0-F6FB-B24EED432DCB}"/>
              </a:ext>
            </a:extLst>
          </p:cNvPr>
          <p:cNvPicPr>
            <a:picLocks noChangeAspect="1"/>
          </p:cNvPicPr>
          <p:nvPr/>
        </p:nvPicPr>
        <p:blipFill>
          <a:blip r:embed="rId4"/>
          <a:stretch>
            <a:fillRect/>
          </a:stretch>
        </p:blipFill>
        <p:spPr>
          <a:xfrm>
            <a:off x="460828" y="2919135"/>
            <a:ext cx="6971938" cy="2237075"/>
          </a:xfrm>
          <a:prstGeom prst="rect">
            <a:avLst/>
          </a:prstGeom>
        </p:spPr>
      </p:pic>
      <p:pic>
        <p:nvPicPr>
          <p:cNvPr id="7" name="Picture 6" descr="fb">
            <a:extLst>
              <a:ext uri="{FF2B5EF4-FFF2-40B4-BE49-F238E27FC236}">
                <a16:creationId xmlns:a16="http://schemas.microsoft.com/office/drawing/2014/main" id="{95E55EC4-0165-DC0F-01E1-8EEFD0D3F1C6}"/>
              </a:ext>
            </a:extLst>
          </p:cNvPr>
          <p:cNvPicPr>
            <a:picLocks noChangeAspect="1"/>
          </p:cNvPicPr>
          <p:nvPr/>
        </p:nvPicPr>
        <p:blipFill>
          <a:blip r:embed="rId5"/>
          <a:stretch>
            <a:fillRect/>
          </a:stretch>
        </p:blipFill>
        <p:spPr>
          <a:xfrm>
            <a:off x="460828" y="587554"/>
            <a:ext cx="6859089" cy="233158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78D0706-0DCA-3C29-CACB-3B67F9D379D1}"/>
              </a:ext>
            </a:extLst>
          </p:cNvPr>
          <p:cNvPicPr>
            <a:picLocks noChangeAspect="1"/>
          </p:cNvPicPr>
          <p:nvPr/>
        </p:nvPicPr>
        <p:blipFill>
          <a:blip r:embed="rId6"/>
          <a:stretch>
            <a:fillRect/>
          </a:stretch>
        </p:blipFill>
        <p:spPr>
          <a:xfrm>
            <a:off x="7477035" y="2235157"/>
            <a:ext cx="4728261" cy="1520414"/>
          </a:xfrm>
          <a:prstGeom prst="rect">
            <a:avLst/>
          </a:prstGeom>
        </p:spPr>
      </p:pic>
      <p:sp>
        <p:nvSpPr>
          <p:cNvPr id="9" name="TextBox 8">
            <a:extLst>
              <a:ext uri="{FF2B5EF4-FFF2-40B4-BE49-F238E27FC236}">
                <a16:creationId xmlns:a16="http://schemas.microsoft.com/office/drawing/2014/main" id="{1A32A777-AD58-1A87-10AA-60EE1F263042}"/>
              </a:ext>
            </a:extLst>
          </p:cNvPr>
          <p:cNvSpPr txBox="1"/>
          <p:nvPr/>
        </p:nvSpPr>
        <p:spPr>
          <a:xfrm>
            <a:off x="0" y="1332458"/>
            <a:ext cx="561703" cy="369332"/>
          </a:xfrm>
          <a:prstGeom prst="rect">
            <a:avLst/>
          </a:prstGeom>
          <a:noFill/>
        </p:spPr>
        <p:txBody>
          <a:bodyPr wrap="square" rtlCol="0">
            <a:spAutoFit/>
          </a:bodyPr>
          <a:lstStyle/>
          <a:p>
            <a:r>
              <a:rPr lang="en-US" dirty="0"/>
              <a:t>fb</a:t>
            </a:r>
          </a:p>
        </p:txBody>
      </p:sp>
      <p:sp>
        <p:nvSpPr>
          <p:cNvPr id="10" name="TextBox 9">
            <a:extLst>
              <a:ext uri="{FF2B5EF4-FFF2-40B4-BE49-F238E27FC236}">
                <a16:creationId xmlns:a16="http://schemas.microsoft.com/office/drawing/2014/main" id="{EB304CC5-53C7-A19C-4DAA-30F9E099897F}"/>
              </a:ext>
            </a:extLst>
          </p:cNvPr>
          <p:cNvSpPr txBox="1"/>
          <p:nvPr/>
        </p:nvSpPr>
        <p:spPr>
          <a:xfrm rot="16200000">
            <a:off x="-182869" y="3853006"/>
            <a:ext cx="829522" cy="369332"/>
          </a:xfrm>
          <a:prstGeom prst="rect">
            <a:avLst/>
          </a:prstGeom>
          <a:noFill/>
        </p:spPr>
        <p:txBody>
          <a:bodyPr wrap="none" rtlCol="0">
            <a:spAutoFit/>
          </a:bodyPr>
          <a:lstStyle/>
          <a:p>
            <a:r>
              <a:rPr lang="en-US" dirty="0"/>
              <a:t>twitter</a:t>
            </a:r>
          </a:p>
        </p:txBody>
      </p:sp>
      <p:sp>
        <p:nvSpPr>
          <p:cNvPr id="11" name="TextBox 10">
            <a:extLst>
              <a:ext uri="{FF2B5EF4-FFF2-40B4-BE49-F238E27FC236}">
                <a16:creationId xmlns:a16="http://schemas.microsoft.com/office/drawing/2014/main" id="{D18A3F4B-6101-B961-80B4-51A0333E9505}"/>
              </a:ext>
            </a:extLst>
          </p:cNvPr>
          <p:cNvSpPr txBox="1"/>
          <p:nvPr/>
        </p:nvSpPr>
        <p:spPr>
          <a:xfrm rot="16200000">
            <a:off x="-439800" y="5794413"/>
            <a:ext cx="1343381" cy="369332"/>
          </a:xfrm>
          <a:prstGeom prst="rect">
            <a:avLst/>
          </a:prstGeom>
          <a:noFill/>
        </p:spPr>
        <p:txBody>
          <a:bodyPr wrap="none" rtlCol="0">
            <a:spAutoFit/>
          </a:bodyPr>
          <a:lstStyle/>
          <a:p>
            <a:r>
              <a:rPr lang="en-US" dirty="0" err="1"/>
              <a:t>hateexplain</a:t>
            </a:r>
            <a:endParaRPr lang="en-US" dirty="0"/>
          </a:p>
        </p:txBody>
      </p:sp>
      <p:sp>
        <p:nvSpPr>
          <p:cNvPr id="12" name="TextBox 11">
            <a:extLst>
              <a:ext uri="{FF2B5EF4-FFF2-40B4-BE49-F238E27FC236}">
                <a16:creationId xmlns:a16="http://schemas.microsoft.com/office/drawing/2014/main" id="{51B8A6C2-5F0E-92BE-C305-94744BCD1F3F}"/>
              </a:ext>
            </a:extLst>
          </p:cNvPr>
          <p:cNvSpPr txBox="1"/>
          <p:nvPr/>
        </p:nvSpPr>
        <p:spPr>
          <a:xfrm>
            <a:off x="8294914" y="1753344"/>
            <a:ext cx="1268296" cy="369332"/>
          </a:xfrm>
          <a:prstGeom prst="rect">
            <a:avLst/>
          </a:prstGeom>
          <a:noFill/>
        </p:spPr>
        <p:txBody>
          <a:bodyPr wrap="none" rtlCol="0">
            <a:spAutoFit/>
          </a:bodyPr>
          <a:lstStyle/>
          <a:p>
            <a:r>
              <a:rPr lang="en-US" dirty="0" err="1"/>
              <a:t>bertispoop</a:t>
            </a:r>
            <a:endParaRPr lang="en-US" dirty="0"/>
          </a:p>
        </p:txBody>
      </p:sp>
    </p:spTree>
    <p:extLst>
      <p:ext uri="{BB962C8B-B14F-4D97-AF65-F5344CB8AC3E}">
        <p14:creationId xmlns:p14="http://schemas.microsoft.com/office/powerpoint/2010/main" val="2436705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5DC9-39AC-B56C-AE0B-9A9A8A177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51455-2B1E-D46C-432D-B6A5C2C9CE40}"/>
              </a:ext>
            </a:extLst>
          </p:cNvPr>
          <p:cNvSpPr>
            <a:spLocks noGrp="1"/>
          </p:cNvSpPr>
          <p:nvPr>
            <p:ph type="ctrTitle"/>
          </p:nvPr>
        </p:nvSpPr>
        <p:spPr/>
        <p:txBody>
          <a:bodyPr>
            <a:normAutofit fontScale="90000"/>
          </a:bodyPr>
          <a:lstStyle/>
          <a:p>
            <a:r>
              <a:rPr lang="en-US" b="1" dirty="0"/>
              <a:t>Event Similarity in GDELT via Semantic Search</a:t>
            </a:r>
            <a:br>
              <a:rPr lang="en-US" dirty="0"/>
            </a:br>
            <a:endParaRPr lang="en-US" dirty="0"/>
          </a:p>
        </p:txBody>
      </p:sp>
      <p:sp>
        <p:nvSpPr>
          <p:cNvPr id="3" name="Subtitle 2">
            <a:extLst>
              <a:ext uri="{FF2B5EF4-FFF2-40B4-BE49-F238E27FC236}">
                <a16:creationId xmlns:a16="http://schemas.microsoft.com/office/drawing/2014/main" id="{DBB76DD0-D58E-D9D8-6B9B-CB0E632DA53D}"/>
              </a:ext>
            </a:extLst>
          </p:cNvPr>
          <p:cNvSpPr>
            <a:spLocks noGrp="1"/>
          </p:cNvSpPr>
          <p:nvPr>
            <p:ph type="subTitle" idx="1"/>
          </p:nvPr>
        </p:nvSpPr>
        <p:spPr/>
        <p:txBody>
          <a:bodyPr/>
          <a:lstStyle/>
          <a:p>
            <a:r>
              <a:rPr lang="en-US" dirty="0"/>
              <a:t>Emily Lugos, Dr. Mauricio </a:t>
            </a:r>
            <a:r>
              <a:rPr lang="en-US" dirty="0" err="1"/>
              <a:t>Gruppi</a:t>
            </a:r>
            <a:endParaRPr lang="en-US" dirty="0"/>
          </a:p>
        </p:txBody>
      </p:sp>
      <p:sp>
        <p:nvSpPr>
          <p:cNvPr id="4" name="TextBox 3">
            <a:extLst>
              <a:ext uri="{FF2B5EF4-FFF2-40B4-BE49-F238E27FC236}">
                <a16:creationId xmlns:a16="http://schemas.microsoft.com/office/drawing/2014/main" id="{DBDD2C41-F1C2-E8CA-2EC2-F0F5BF3D9960}"/>
              </a:ext>
            </a:extLst>
          </p:cNvPr>
          <p:cNvSpPr txBox="1"/>
          <p:nvPr/>
        </p:nvSpPr>
        <p:spPr>
          <a:xfrm>
            <a:off x="3972232" y="4572000"/>
            <a:ext cx="4247536" cy="369332"/>
          </a:xfrm>
          <a:prstGeom prst="rect">
            <a:avLst/>
          </a:prstGeom>
          <a:noFill/>
        </p:spPr>
        <p:txBody>
          <a:bodyPr wrap="square" rtlCol="0">
            <a:spAutoFit/>
          </a:bodyPr>
          <a:lstStyle/>
          <a:p>
            <a:r>
              <a:rPr lang="en-US" dirty="0"/>
              <a:t>How do you search for related articles?</a:t>
            </a:r>
          </a:p>
        </p:txBody>
      </p:sp>
    </p:spTree>
    <p:extLst>
      <p:ext uri="{BB962C8B-B14F-4D97-AF65-F5344CB8AC3E}">
        <p14:creationId xmlns:p14="http://schemas.microsoft.com/office/powerpoint/2010/main" val="2516853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2B8-7F1D-586C-0609-1860B3981392}"/>
              </a:ext>
            </a:extLst>
          </p:cNvPr>
          <p:cNvSpPr>
            <a:spLocks noGrp="1"/>
          </p:cNvSpPr>
          <p:nvPr>
            <p:ph type="title"/>
          </p:nvPr>
        </p:nvSpPr>
        <p:spPr/>
        <p:txBody>
          <a:bodyPr/>
          <a:lstStyle/>
          <a:p>
            <a:r>
              <a:rPr lang="en-US" dirty="0"/>
              <a:t>Event similarity</a:t>
            </a:r>
          </a:p>
        </p:txBody>
      </p:sp>
      <p:sp>
        <p:nvSpPr>
          <p:cNvPr id="3" name="Content Placeholder 2">
            <a:extLst>
              <a:ext uri="{FF2B5EF4-FFF2-40B4-BE49-F238E27FC236}">
                <a16:creationId xmlns:a16="http://schemas.microsoft.com/office/drawing/2014/main" id="{087D0114-9078-050D-1124-E3B258AF45A1}"/>
              </a:ext>
            </a:extLst>
          </p:cNvPr>
          <p:cNvSpPr>
            <a:spLocks noGrp="1"/>
          </p:cNvSpPr>
          <p:nvPr>
            <p:ph idx="1"/>
          </p:nvPr>
        </p:nvSpPr>
        <p:spPr/>
        <p:txBody>
          <a:bodyPr/>
          <a:lstStyle/>
          <a:p>
            <a:r>
              <a:rPr lang="en-US" dirty="0"/>
              <a:t>Key words</a:t>
            </a:r>
          </a:p>
          <a:p>
            <a:r>
              <a:rPr lang="en-US" dirty="0"/>
              <a:t>Date and time</a:t>
            </a:r>
          </a:p>
        </p:txBody>
      </p:sp>
      <p:pic>
        <p:nvPicPr>
          <p:cNvPr id="1026" name="Picture 2" descr="The 1918 Flu, Masks and Lessons for the Coronavirus Pandemic - The New York  Times">
            <a:extLst>
              <a:ext uri="{FF2B5EF4-FFF2-40B4-BE49-F238E27FC236}">
                <a16:creationId xmlns:a16="http://schemas.microsoft.com/office/drawing/2014/main" id="{C9F93494-D2DE-D597-5DCB-756FC8922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429000"/>
            <a:ext cx="3810000" cy="301625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a:extLst>
              <a:ext uri="{FF2B5EF4-FFF2-40B4-BE49-F238E27FC236}">
                <a16:creationId xmlns:a16="http://schemas.microsoft.com/office/drawing/2014/main" id="{94921EA4-84FE-3939-D354-91F97B6BFC35}"/>
              </a:ext>
            </a:extLst>
          </p:cNvPr>
          <p:cNvSpPr/>
          <p:nvPr/>
        </p:nvSpPr>
        <p:spPr>
          <a:xfrm>
            <a:off x="4834952" y="4421173"/>
            <a:ext cx="2038662" cy="5546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oronavirus: Why are Americans so angry about masks?">
            <a:extLst>
              <a:ext uri="{FF2B5EF4-FFF2-40B4-BE49-F238E27FC236}">
                <a16:creationId xmlns:a16="http://schemas.microsoft.com/office/drawing/2014/main" id="{7D08E7E6-B750-375D-A782-2B0C20AC2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0366" y="3429000"/>
            <a:ext cx="4786859" cy="269260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F4A9797-C1C6-59D4-9C31-DC754B7AB805}"/>
              </a:ext>
            </a:extLst>
          </p:cNvPr>
          <p:cNvSpPr/>
          <p:nvPr/>
        </p:nvSpPr>
        <p:spPr>
          <a:xfrm>
            <a:off x="4834952" y="1256701"/>
            <a:ext cx="6347892"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History repeats itself</a:t>
            </a:r>
          </a:p>
        </p:txBody>
      </p:sp>
    </p:spTree>
    <p:extLst>
      <p:ext uri="{BB962C8B-B14F-4D97-AF65-F5344CB8AC3E}">
        <p14:creationId xmlns:p14="http://schemas.microsoft.com/office/powerpoint/2010/main" val="144950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9873-CBF5-B08C-5F2B-0A05D53D71C4}"/>
              </a:ext>
            </a:extLst>
          </p:cNvPr>
          <p:cNvSpPr>
            <a:spLocks noGrp="1"/>
          </p:cNvSpPr>
          <p:nvPr>
            <p:ph type="title"/>
          </p:nvPr>
        </p:nvSpPr>
        <p:spPr/>
        <p:txBody>
          <a:bodyPr/>
          <a:lstStyle/>
          <a:p>
            <a:r>
              <a:rPr lang="en-US" dirty="0"/>
              <a:t>GSG: GDELT</a:t>
            </a:r>
          </a:p>
        </p:txBody>
      </p:sp>
      <p:pic>
        <p:nvPicPr>
          <p:cNvPr id="5" name="Content Placeholder 4" descr="A colorful smoke in the sky&#10;&#10;AI-generated content may be incorrect.">
            <a:extLst>
              <a:ext uri="{FF2B5EF4-FFF2-40B4-BE49-F238E27FC236}">
                <a16:creationId xmlns:a16="http://schemas.microsoft.com/office/drawing/2014/main" id="{8312F096-6807-F139-B307-2CC282769677}"/>
              </a:ext>
            </a:extLst>
          </p:cNvPr>
          <p:cNvPicPr>
            <a:picLocks noGrp="1" noChangeAspect="1"/>
          </p:cNvPicPr>
          <p:nvPr>
            <p:ph idx="1"/>
          </p:nvPr>
        </p:nvPicPr>
        <p:blipFill>
          <a:blip r:embed="rId3"/>
          <a:stretch>
            <a:fillRect/>
          </a:stretch>
        </p:blipFill>
        <p:spPr>
          <a:xfrm>
            <a:off x="838200" y="1938543"/>
            <a:ext cx="10515600" cy="4125502"/>
          </a:xfrm>
        </p:spPr>
      </p:pic>
    </p:spTree>
    <p:extLst>
      <p:ext uri="{BB962C8B-B14F-4D97-AF65-F5344CB8AC3E}">
        <p14:creationId xmlns:p14="http://schemas.microsoft.com/office/powerpoint/2010/main" val="67235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908536-778C-6D2A-0C8E-45FA9D953CBF}"/>
              </a:ext>
            </a:extLst>
          </p:cNvPr>
          <p:cNvPicPr>
            <a:picLocks noChangeAspect="1"/>
          </p:cNvPicPr>
          <p:nvPr/>
        </p:nvPicPr>
        <p:blipFill>
          <a:blip r:embed="rId3"/>
          <a:stretch>
            <a:fillRect/>
          </a:stretch>
        </p:blipFill>
        <p:spPr>
          <a:xfrm>
            <a:off x="2209800" y="1182051"/>
            <a:ext cx="7772400" cy="4493897"/>
          </a:xfrm>
          <a:prstGeom prst="rect">
            <a:avLst/>
          </a:prstGeom>
        </p:spPr>
      </p:pic>
    </p:spTree>
    <p:extLst>
      <p:ext uri="{BB962C8B-B14F-4D97-AF65-F5344CB8AC3E}">
        <p14:creationId xmlns:p14="http://schemas.microsoft.com/office/powerpoint/2010/main" val="1503779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14FE-5B22-79E0-F445-7A87BA1E8106}"/>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dirty="0"/>
              <a:t>Summarize articles</a:t>
            </a:r>
          </a:p>
        </p:txBody>
      </p:sp>
      <p:cxnSp>
        <p:nvCxnSpPr>
          <p:cNvPr id="12" name="Straight Connector 11">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AI-generated content may be incorrect.">
            <a:extLst>
              <a:ext uri="{FF2B5EF4-FFF2-40B4-BE49-F238E27FC236}">
                <a16:creationId xmlns:a16="http://schemas.microsoft.com/office/drawing/2014/main" id="{3F0F0C77-56D4-AF49-1063-852F6949AC7E}"/>
              </a:ext>
            </a:extLst>
          </p:cNvPr>
          <p:cNvPicPr>
            <a:picLocks noChangeAspect="1"/>
          </p:cNvPicPr>
          <p:nvPr/>
        </p:nvPicPr>
        <p:blipFill>
          <a:blip r:embed="rId3"/>
          <a:stretch>
            <a:fillRect/>
          </a:stretch>
        </p:blipFill>
        <p:spPr>
          <a:xfrm>
            <a:off x="5450425" y="0"/>
            <a:ext cx="6691433" cy="3328988"/>
          </a:xfrm>
          <a:prstGeom prst="rect">
            <a:avLst/>
          </a:prstGeom>
        </p:spPr>
      </p:pic>
      <p:pic>
        <p:nvPicPr>
          <p:cNvPr id="4" name="Picture 3" descr="A diagram of a train&#10;&#10;AI-generated content may be incorrect.">
            <a:extLst>
              <a:ext uri="{FF2B5EF4-FFF2-40B4-BE49-F238E27FC236}">
                <a16:creationId xmlns:a16="http://schemas.microsoft.com/office/drawing/2014/main" id="{FC54BA81-7E1A-04B9-FBA4-2815E3386C44}"/>
              </a:ext>
            </a:extLst>
          </p:cNvPr>
          <p:cNvPicPr>
            <a:picLocks noChangeAspect="1"/>
          </p:cNvPicPr>
          <p:nvPr/>
        </p:nvPicPr>
        <p:blipFill>
          <a:blip r:embed="rId4"/>
          <a:stretch>
            <a:fillRect/>
          </a:stretch>
        </p:blipFill>
        <p:spPr>
          <a:xfrm>
            <a:off x="2181739" y="3429000"/>
            <a:ext cx="7828522" cy="2974838"/>
          </a:xfrm>
          <a:prstGeom prst="rect">
            <a:avLst/>
          </a:prstGeom>
        </p:spPr>
      </p:pic>
      <p:cxnSp>
        <p:nvCxnSpPr>
          <p:cNvPr id="14" name="Straight Connector 13">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9921286-E47F-04FF-D7B0-F919CBBC0666}"/>
              </a:ext>
            </a:extLst>
          </p:cNvPr>
          <p:cNvSpPr txBox="1"/>
          <p:nvPr/>
        </p:nvSpPr>
        <p:spPr>
          <a:xfrm>
            <a:off x="101325" y="6488668"/>
            <a:ext cx="6100996" cy="369332"/>
          </a:xfrm>
          <a:prstGeom prst="rect">
            <a:avLst/>
          </a:prstGeom>
          <a:noFill/>
        </p:spPr>
        <p:txBody>
          <a:bodyPr wrap="square">
            <a:spAutoFit/>
          </a:bodyPr>
          <a:lstStyle/>
          <a:p>
            <a:r>
              <a:rPr lang="en-US" dirty="0"/>
              <a:t>https://</a:t>
            </a:r>
            <a:r>
              <a:rPr lang="en-US" dirty="0" err="1"/>
              <a:t>pypi.org</a:t>
            </a:r>
            <a:r>
              <a:rPr lang="en-US" dirty="0"/>
              <a:t>/project/</a:t>
            </a:r>
            <a:r>
              <a:rPr lang="en-US" dirty="0" err="1"/>
              <a:t>stanford-openie</a:t>
            </a:r>
            <a:r>
              <a:rPr lang="en-US" dirty="0"/>
              <a:t>/</a:t>
            </a:r>
          </a:p>
        </p:txBody>
      </p:sp>
    </p:spTree>
    <p:extLst>
      <p:ext uri="{BB962C8B-B14F-4D97-AF65-F5344CB8AC3E}">
        <p14:creationId xmlns:p14="http://schemas.microsoft.com/office/powerpoint/2010/main" val="24291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CEC0B-6017-6160-E07C-DF85C75D1CBE}"/>
              </a:ext>
            </a:extLst>
          </p:cNvPr>
          <p:cNvSpPr>
            <a:spLocks noGrp="1"/>
          </p:cNvSpPr>
          <p:nvPr>
            <p:ph type="title"/>
          </p:nvPr>
        </p:nvSpPr>
        <p:spPr/>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CA71E1BC-5232-9D89-59F1-D23811272097}"/>
              </a:ext>
            </a:extLst>
          </p:cNvPr>
          <p:cNvPicPr>
            <a:picLocks noGrp="1" noChangeAspect="1"/>
          </p:cNvPicPr>
          <p:nvPr>
            <p:ph idx="1"/>
          </p:nvPr>
        </p:nvPicPr>
        <p:blipFill>
          <a:blip r:embed="rId3"/>
          <a:stretch>
            <a:fillRect/>
          </a:stretch>
        </p:blipFill>
        <p:spPr>
          <a:xfrm>
            <a:off x="3822796" y="1798377"/>
            <a:ext cx="6285266" cy="4351338"/>
          </a:xfrm>
        </p:spPr>
      </p:pic>
      <p:pic>
        <p:nvPicPr>
          <p:cNvPr id="7" name="Picture 6" descr="A logo of a molecule&#10;&#10;AI-generated content may be incorrect.">
            <a:extLst>
              <a:ext uri="{FF2B5EF4-FFF2-40B4-BE49-F238E27FC236}">
                <a16:creationId xmlns:a16="http://schemas.microsoft.com/office/drawing/2014/main" id="{60477564-12D9-31F8-A3EC-300B373D90C8}"/>
              </a:ext>
            </a:extLst>
          </p:cNvPr>
          <p:cNvPicPr>
            <a:picLocks noChangeAspect="1"/>
          </p:cNvPicPr>
          <p:nvPr/>
        </p:nvPicPr>
        <p:blipFill>
          <a:blip r:embed="rId4"/>
          <a:stretch>
            <a:fillRect/>
          </a:stretch>
        </p:blipFill>
        <p:spPr>
          <a:xfrm>
            <a:off x="149902" y="119856"/>
            <a:ext cx="3441700" cy="1816100"/>
          </a:xfrm>
          <a:prstGeom prst="rect">
            <a:avLst/>
          </a:prstGeom>
        </p:spPr>
      </p:pic>
    </p:spTree>
    <p:extLst>
      <p:ext uri="{BB962C8B-B14F-4D97-AF65-F5344CB8AC3E}">
        <p14:creationId xmlns:p14="http://schemas.microsoft.com/office/powerpoint/2010/main" val="261771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E696-FE18-7307-933F-8A95FE08FAC6}"/>
              </a:ext>
            </a:extLst>
          </p:cNvPr>
          <p:cNvSpPr>
            <a:spLocks noGrp="1"/>
          </p:cNvSpPr>
          <p:nvPr>
            <p:ph type="title"/>
          </p:nvPr>
        </p:nvSpPr>
        <p:spPr/>
        <p:txBody>
          <a:bodyPr/>
          <a:lstStyle/>
          <a:p>
            <a:r>
              <a:rPr lang="en-US" dirty="0"/>
              <a:t>DBSCAN</a:t>
            </a:r>
          </a:p>
        </p:txBody>
      </p:sp>
      <p:sp>
        <p:nvSpPr>
          <p:cNvPr id="3" name="Content Placeholder 2">
            <a:extLst>
              <a:ext uri="{FF2B5EF4-FFF2-40B4-BE49-F238E27FC236}">
                <a16:creationId xmlns:a16="http://schemas.microsoft.com/office/drawing/2014/main" id="{6DF7D08C-55CF-10D1-C622-9110C3C8ADD4}"/>
              </a:ext>
            </a:extLst>
          </p:cNvPr>
          <p:cNvSpPr>
            <a:spLocks noGrp="1"/>
          </p:cNvSpPr>
          <p:nvPr>
            <p:ph idx="1"/>
          </p:nvPr>
        </p:nvSpPr>
        <p:spPr/>
        <p:txBody>
          <a:bodyPr/>
          <a:lstStyle/>
          <a:p>
            <a:r>
              <a:rPr lang="en-US" dirty="0"/>
              <a:t>https://scikit-</a:t>
            </a:r>
            <a:r>
              <a:rPr lang="en-US" dirty="0" err="1"/>
              <a:t>learn.org</a:t>
            </a:r>
            <a:r>
              <a:rPr lang="en-US" dirty="0"/>
              <a:t>/stable/modules/generated/</a:t>
            </a:r>
            <a:r>
              <a:rPr lang="en-US" dirty="0" err="1"/>
              <a:t>sklearn.cluster.DBSCAN.html</a:t>
            </a:r>
            <a:endParaRPr lang="en-US" dirty="0"/>
          </a:p>
        </p:txBody>
      </p:sp>
    </p:spTree>
    <p:extLst>
      <p:ext uri="{BB962C8B-B14F-4D97-AF65-F5344CB8AC3E}">
        <p14:creationId xmlns:p14="http://schemas.microsoft.com/office/powerpoint/2010/main" val="1546362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37D5-97EE-0631-8909-79C412EE0EB8}"/>
              </a:ext>
            </a:extLst>
          </p:cNvPr>
          <p:cNvSpPr>
            <a:spLocks noGrp="1"/>
          </p:cNvSpPr>
          <p:nvPr>
            <p:ph type="title"/>
          </p:nvPr>
        </p:nvSpPr>
        <p:spPr>
          <a:xfrm>
            <a:off x="0" y="-68536"/>
            <a:ext cx="10515600" cy="1325563"/>
          </a:xfrm>
        </p:spPr>
        <p:txBody>
          <a:bodyPr/>
          <a:lstStyle/>
          <a:p>
            <a:r>
              <a:rPr lang="en-US" dirty="0" err="1"/>
              <a:t>SpectralEmbedding</a:t>
            </a:r>
            <a:endParaRPr lang="en-US" dirty="0"/>
          </a:p>
        </p:txBody>
      </p:sp>
      <p:pic>
        <p:nvPicPr>
          <p:cNvPr id="11" name="Picture 10" descr="A diagram of a diagram&#10;&#10;AI-generated content may be incorrect.">
            <a:extLst>
              <a:ext uri="{FF2B5EF4-FFF2-40B4-BE49-F238E27FC236}">
                <a16:creationId xmlns:a16="http://schemas.microsoft.com/office/drawing/2014/main" id="{E611130B-3EF6-B24C-DE26-C7CF17D410D4}"/>
              </a:ext>
            </a:extLst>
          </p:cNvPr>
          <p:cNvPicPr>
            <a:picLocks noChangeAspect="1"/>
          </p:cNvPicPr>
          <p:nvPr/>
        </p:nvPicPr>
        <p:blipFill>
          <a:blip r:embed="rId3"/>
          <a:stretch>
            <a:fillRect/>
          </a:stretch>
        </p:blipFill>
        <p:spPr>
          <a:xfrm>
            <a:off x="5286829" y="3846059"/>
            <a:ext cx="5511800" cy="2857500"/>
          </a:xfrm>
          <a:prstGeom prst="rect">
            <a:avLst/>
          </a:prstGeom>
        </p:spPr>
      </p:pic>
      <p:pic>
        <p:nvPicPr>
          <p:cNvPr id="13" name="Picture 12" descr="A graph of a diagram&#10;&#10;AI-generated content may be incorrect.">
            <a:extLst>
              <a:ext uri="{FF2B5EF4-FFF2-40B4-BE49-F238E27FC236}">
                <a16:creationId xmlns:a16="http://schemas.microsoft.com/office/drawing/2014/main" id="{A020D356-E462-4DAB-DD9D-95085BF00501}"/>
              </a:ext>
            </a:extLst>
          </p:cNvPr>
          <p:cNvPicPr>
            <a:picLocks noChangeAspect="1"/>
          </p:cNvPicPr>
          <p:nvPr/>
        </p:nvPicPr>
        <p:blipFill>
          <a:blip r:embed="rId4"/>
          <a:stretch>
            <a:fillRect/>
          </a:stretch>
        </p:blipFill>
        <p:spPr>
          <a:xfrm>
            <a:off x="8439366" y="2561892"/>
            <a:ext cx="3653942" cy="1894325"/>
          </a:xfrm>
          <a:prstGeom prst="rect">
            <a:avLst/>
          </a:prstGeom>
        </p:spPr>
      </p:pic>
      <p:pic>
        <p:nvPicPr>
          <p:cNvPr id="7" name="Picture 6" descr="A graph showing a number of dots&#10;&#10;AI-generated content may be incorrect.">
            <a:extLst>
              <a:ext uri="{FF2B5EF4-FFF2-40B4-BE49-F238E27FC236}">
                <a16:creationId xmlns:a16="http://schemas.microsoft.com/office/drawing/2014/main" id="{316A9995-47D3-6012-36D3-DEB80CA00932}"/>
              </a:ext>
            </a:extLst>
          </p:cNvPr>
          <p:cNvPicPr>
            <a:picLocks noChangeAspect="1"/>
          </p:cNvPicPr>
          <p:nvPr/>
        </p:nvPicPr>
        <p:blipFill>
          <a:blip r:embed="rId5"/>
          <a:stretch>
            <a:fillRect/>
          </a:stretch>
        </p:blipFill>
        <p:spPr>
          <a:xfrm>
            <a:off x="3568700" y="988559"/>
            <a:ext cx="5511800" cy="2857500"/>
          </a:xfrm>
          <a:prstGeom prst="rect">
            <a:avLst/>
          </a:prstGeom>
        </p:spPr>
      </p:pic>
      <p:pic>
        <p:nvPicPr>
          <p:cNvPr id="5" name="Content Placeholder 4" descr="A graph showing different types of blue dots&#10;&#10;AI-generated content may be incorrect.">
            <a:extLst>
              <a:ext uri="{FF2B5EF4-FFF2-40B4-BE49-F238E27FC236}">
                <a16:creationId xmlns:a16="http://schemas.microsoft.com/office/drawing/2014/main" id="{26224B0D-EFA0-BFAC-4357-98ED0439651A}"/>
              </a:ext>
            </a:extLst>
          </p:cNvPr>
          <p:cNvPicPr>
            <a:picLocks noGrp="1" noChangeAspect="1"/>
          </p:cNvPicPr>
          <p:nvPr>
            <p:ph idx="1"/>
          </p:nvPr>
        </p:nvPicPr>
        <p:blipFill>
          <a:blip r:embed="rId6"/>
          <a:stretch>
            <a:fillRect/>
          </a:stretch>
        </p:blipFill>
        <p:spPr>
          <a:xfrm>
            <a:off x="2833141" y="494279"/>
            <a:ext cx="9533951" cy="6703559"/>
          </a:xfrm>
        </p:spPr>
      </p:pic>
      <p:pic>
        <p:nvPicPr>
          <p:cNvPr id="9" name="Picture 8" descr="A diagram of a diagram&#10;&#10;AI-generated content may be incorrect.">
            <a:extLst>
              <a:ext uri="{FF2B5EF4-FFF2-40B4-BE49-F238E27FC236}">
                <a16:creationId xmlns:a16="http://schemas.microsoft.com/office/drawing/2014/main" id="{73B0656B-4939-A3E6-C118-637CAC07E9B7}"/>
              </a:ext>
            </a:extLst>
          </p:cNvPr>
          <p:cNvPicPr>
            <a:picLocks noChangeAspect="1"/>
          </p:cNvPicPr>
          <p:nvPr/>
        </p:nvPicPr>
        <p:blipFill>
          <a:blip r:embed="rId7"/>
          <a:stretch>
            <a:fillRect/>
          </a:stretch>
        </p:blipFill>
        <p:spPr>
          <a:xfrm>
            <a:off x="98692" y="-299803"/>
            <a:ext cx="13255428" cy="6872053"/>
          </a:xfrm>
          <a:prstGeom prst="rect">
            <a:avLst/>
          </a:prstGeom>
        </p:spPr>
      </p:pic>
    </p:spTree>
    <p:extLst>
      <p:ext uri="{BB962C8B-B14F-4D97-AF65-F5344CB8AC3E}">
        <p14:creationId xmlns:p14="http://schemas.microsoft.com/office/powerpoint/2010/main" val="729775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6159</TotalTime>
  <Words>751</Words>
  <Application>Microsoft Macintosh PowerPoint</Application>
  <PresentationFormat>Widescreen</PresentationFormat>
  <Paragraphs>62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Event Similarity in GDELT via Semantic Search </vt:lpstr>
      <vt:lpstr>Characterize Hate Speech &amp; Misinformation with ML </vt:lpstr>
      <vt:lpstr>GDELT Database</vt:lpstr>
      <vt:lpstr>Events</vt:lpstr>
      <vt:lpstr>BERTopic</vt:lpstr>
      <vt:lpstr>PowerPoint Presentation</vt:lpstr>
      <vt:lpstr>FL</vt:lpstr>
      <vt:lpstr>Event Similarity in GDELT via Semantic Search </vt:lpstr>
      <vt:lpstr>Event similarity</vt:lpstr>
      <vt:lpstr>GSG: GDELT</vt:lpstr>
      <vt:lpstr>PowerPoint Presentation</vt:lpstr>
      <vt:lpstr>Summarize articles</vt:lpstr>
      <vt:lpstr>PowerPoint Presentation</vt:lpstr>
      <vt:lpstr>DBSCAN</vt:lpstr>
      <vt:lpstr>SpectralEmbedding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Lugos</dc:creator>
  <cp:lastModifiedBy>Emily Lugos</cp:lastModifiedBy>
  <cp:revision>6</cp:revision>
  <dcterms:created xsi:type="dcterms:W3CDTF">2025-09-30T16:03:31Z</dcterms:created>
  <dcterms:modified xsi:type="dcterms:W3CDTF">2025-10-09T23:08:56Z</dcterms:modified>
</cp:coreProperties>
</file>