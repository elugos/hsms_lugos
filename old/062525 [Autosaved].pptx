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6" r:id="rId3"/>
    <p:sldId id="258" r:id="rId4"/>
    <p:sldId id="262" r:id="rId5"/>
    <p:sldId id="267" r:id="rId6"/>
    <p:sldId id="257" r:id="rId7"/>
    <p:sldId id="261" r:id="rId8"/>
    <p:sldId id="268" r:id="rId9"/>
    <p:sldId id="259" r:id="rId10"/>
    <p:sldId id="271" r:id="rId11"/>
    <p:sldId id="263" r:id="rId12"/>
    <p:sldId id="270" r:id="rId13"/>
    <p:sldId id="260" r:id="rId14"/>
    <p:sldId id="264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76712"/>
  </p:normalViewPr>
  <p:slideViewPr>
    <p:cSldViewPr snapToGrid="0">
      <p:cViewPr varScale="1">
        <p:scale>
          <a:sx n="96" d="100"/>
          <a:sy n="96" d="100"/>
        </p:scale>
        <p:origin x="1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4T20:11:34.2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60,'52'-6,"-7"1,6 5,1-5,3 4,5-5,-8 6,23-5,-9-7,33 4,-11-3,-38 11,2 0,4 0,-1 0,42 0,-38 3,-2 0,25 4,-28-4,-1 1,27 7,6 0,-2 3,-13 2,-2-9,-9 3,-7-9,-8 12,-9-11,-2 10,-13-11,2 3,-11-4,-3 0,7 2,-3-2,9 3,-6-3,3 0,7 0,10 0,-5 0,18 0,-19 4,13-3,-7 11,-7-10,-3 5,-7-4,-3-2,-4 2,-1-3,-2 0,5 0,-5 0,2 0,-1 0,1-5,1 4,0-3,-3 4,3 0,0-3,-3 3,5-5,-6 5,6-8,1 6,-2-3,-2 2,-6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4T20:11:35.76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2,'51'0,"0"0,48 0,-37 0,1 0,-3 0,2 0,12 0,3 0,0 0,1 0,14 0,2 0,-3 0,-1 0,1 0,-2 0,-7 0,-3 0,-9 0,-4 0,-8-1,-3 2,38 9,-31-8,-11 9,-29-11,-3 0,-8 0,-5 0,12 0,-11 0,6 0,7 0,4 0,12 0,7 0,10 0,1 0,13 0,-5 0,15 0,-6 0,-2 0,-9 0,-15 0,-13 0,-13 0,-14 0,-3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4T20:11:38.11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27,'43'-8,"6"4,-4 0,15 4,-5 0,5 0,37 0,-23 0,1 0,-18 0,-2 0,1 0,0 0,-4 0,-1 0,0 0,-1 0,30 0,-3 0,-25 0,-16 0,-9 0,-12 0,3 0,-7 0,8 0,-8 0,7 0,5 0,12 0,18 0,9 0,29 0,-16 0,24 0,-20 0,-1 0,-16 0,-11 0,-27 0,-5 0,-11-2,-1-1,5 0,-3 1,5 2,-2 0,-3 0,10 0,-11 0,5 0,-3 0,-2 0,8 0,-5 0,4 0,-8 0,7 0,-7 0,7 0,-2 0,-1 0,15 0,-9 0,9 0,1 0,-6 0,-1 0,-8 0,-7 0,9 0,-5 0,6 0,-6 0,3 0,-3 0,7 0,-10 0,6 0,-2 0,7 0,-6 0,3 0,-5 0,2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F0EED-0976-C34B-BFA9-488F1FAED099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E1BBB-CC12-4844-B45D-5BACECBB4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3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B: 1149</a:t>
            </a:r>
          </a:p>
          <a:p>
            <a:r>
              <a:rPr lang="en-US" dirty="0"/>
              <a:t>A: 76</a:t>
            </a:r>
          </a:p>
          <a:p>
            <a:endParaRPr lang="en-US" dirty="0"/>
          </a:p>
          <a:p>
            <a:r>
              <a:rPr lang="en-US" dirty="0"/>
              <a:t>FB: 0</a:t>
            </a:r>
          </a:p>
          <a:p>
            <a:r>
              <a:rPr lang="en-US" dirty="0"/>
              <a:t>HE:2</a:t>
            </a:r>
          </a:p>
          <a:p>
            <a:r>
              <a:rPr lang="en-US" dirty="0"/>
              <a:t>Twitter:5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4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50B9-ED91-3047-3A1A-554F73E5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3AC74-ED16-DC07-D245-4E575B06D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35A84-F4D0-9F9A-20B1-6531AF869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D85E8-0399-9100-69BF-54CF2E9E4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3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B:1104</a:t>
            </a:r>
          </a:p>
          <a:p>
            <a:r>
              <a:rPr lang="en-US" dirty="0"/>
              <a:t>A:234</a:t>
            </a:r>
          </a:p>
          <a:p>
            <a:endParaRPr lang="en-US" dirty="0"/>
          </a:p>
          <a:p>
            <a:r>
              <a:rPr lang="en-US" dirty="0"/>
              <a:t>HE: 1</a:t>
            </a:r>
          </a:p>
          <a:p>
            <a:r>
              <a:rPr lang="en-US" dirty="0"/>
              <a:t>Twitter:0</a:t>
            </a:r>
          </a:p>
          <a:p>
            <a:r>
              <a:rPr lang="en-US" dirty="0"/>
              <a:t>Fb:41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20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in the </a:t>
            </a:r>
            <a:r>
              <a:rPr lang="en-US" dirty="0" err="1"/>
              <a:t>DataFrame</a:t>
            </a:r>
            <a:r>
              <a:rPr lang="en-US" dirty="0"/>
              <a:t> represents a </a:t>
            </a:r>
            <a:r>
              <a:rPr lang="en-US" b="1" dirty="0"/>
              <a:t>merge</a:t>
            </a:r>
            <a:r>
              <a:rPr lang="en-US" dirty="0"/>
              <a:t> between two previously separate topics (</a:t>
            </a:r>
            <a:r>
              <a:rPr lang="en-US" dirty="0" err="1"/>
              <a:t>Child_Left_ID</a:t>
            </a:r>
            <a:r>
              <a:rPr lang="en-US" dirty="0"/>
              <a:t>, </a:t>
            </a:r>
            <a:r>
              <a:rPr lang="en-US" dirty="0" err="1"/>
              <a:t>Child_Right_ID</a:t>
            </a:r>
            <a:r>
              <a:rPr lang="en-US" dirty="0"/>
              <a:t>) into a new </a:t>
            </a:r>
            <a:r>
              <a:rPr lang="en-US" dirty="0" err="1"/>
              <a:t>Parent_ID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Distance</a:t>
            </a:r>
            <a:r>
              <a:rPr lang="en-US" dirty="0"/>
              <a:t> value quantifies </a:t>
            </a:r>
            <a:r>
              <a:rPr lang="en-US" b="1" dirty="0"/>
              <a:t>how far apart</a:t>
            </a:r>
            <a:r>
              <a:rPr lang="en-US" dirty="0"/>
              <a:t> the two child clusters were in the topic embedding space before merging.</a:t>
            </a:r>
          </a:p>
          <a:p>
            <a:r>
              <a:rPr lang="en-US" dirty="0"/>
              <a:t>It comes from the </a:t>
            </a:r>
            <a:r>
              <a:rPr lang="en-US" b="1" dirty="0"/>
              <a:t>linkage function</a:t>
            </a:r>
            <a:r>
              <a:rPr lang="en-US" dirty="0"/>
              <a:t> used in hierarchical clustering (default is "ward"), which operates on the pairwise </a:t>
            </a:r>
            <a:r>
              <a:rPr lang="en-US" b="1" dirty="0" err="1"/>
              <a:t>intertopic</a:t>
            </a:r>
            <a:r>
              <a:rPr lang="en-US" b="1" dirty="0"/>
              <a:t> distances</a:t>
            </a:r>
            <a:r>
              <a:rPr lang="en-US" dirty="0"/>
              <a:t> derived from UMAP/c-TF-IDF.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2443</a:t>
            </a:r>
          </a:p>
          <a:p>
            <a:r>
              <a:rPr lang="en-US" dirty="0"/>
              <a:t>694</a:t>
            </a:r>
          </a:p>
          <a:p>
            <a:r>
              <a:rPr lang="en-US" dirty="0"/>
              <a:t>Twitter:12</a:t>
            </a:r>
          </a:p>
          <a:p>
            <a:r>
              <a:rPr lang="en-US" dirty="0"/>
              <a:t>Fb:52</a:t>
            </a:r>
          </a:p>
          <a:p>
            <a:r>
              <a:rPr lang="en-US" dirty="0"/>
              <a:t>HE:10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9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euclidean</a:t>
            </a:r>
            <a:r>
              <a:rPr lang="en-US" dirty="0"/>
              <a:t> distance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9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75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B:3404</a:t>
            </a:r>
          </a:p>
          <a:p>
            <a:r>
              <a:rPr lang="en-US" dirty="0"/>
              <a:t>A:741</a:t>
            </a:r>
          </a:p>
          <a:p>
            <a:endParaRPr lang="en-US" dirty="0"/>
          </a:p>
          <a:p>
            <a:r>
              <a:rPr lang="en-US" dirty="0"/>
              <a:t>HE: 21</a:t>
            </a:r>
          </a:p>
          <a:p>
            <a:r>
              <a:rPr lang="en-US" dirty="0"/>
              <a:t>Fb:41</a:t>
            </a:r>
          </a:p>
          <a:p>
            <a:r>
              <a:rPr lang="en-US" dirty="0"/>
              <a:t>Twitter</a:t>
            </a:r>
            <a:r>
              <a:rPr lang="en-US"/>
              <a:t>: 7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63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94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54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82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B:1215</a:t>
            </a:r>
          </a:p>
          <a:p>
            <a:r>
              <a:rPr lang="en-US" dirty="0"/>
              <a:t>A:338</a:t>
            </a:r>
          </a:p>
          <a:p>
            <a:endParaRPr lang="en-US" dirty="0"/>
          </a:p>
          <a:p>
            <a:r>
              <a:rPr lang="en-US" dirty="0"/>
              <a:t>FB_H:20</a:t>
            </a:r>
          </a:p>
          <a:p>
            <a:r>
              <a:rPr lang="en-US" dirty="0"/>
              <a:t>Twitter_H:35</a:t>
            </a:r>
          </a:p>
          <a:p>
            <a:r>
              <a:rPr lang="en-US" dirty="0"/>
              <a:t>HE: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E1BBB-CC12-4844-B45D-5BACECBB48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3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7009-3239-5E21-5117-EF50C0D90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98F26-E405-12DA-4675-0F6BAF05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5DD46-BA07-4C02-0053-F7D784A3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1B30B-290A-940D-7D49-82D88D70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A3DD-E022-2CA1-4482-54F618D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8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F024-0478-0805-690D-DCD6CD97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AE70-A9BE-8027-396F-A2A1003D5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20A7C-CFB9-77C8-9ED0-44026743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EFD8B-EB15-905E-BACE-4CCD1ECE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7AEC-86C0-F848-6926-F5ACE164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5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C298-58AB-CA0C-F231-22F8FE7D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F9EE9-D3F5-D91D-6706-819363098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B1F3E-774A-241B-BCB9-2D98AA3B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8D131-875B-84DB-B0BA-F60028BB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F51A-A719-0FD9-8462-9796A78D2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8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E7A5-F98C-2C6A-8F54-1F0B75C4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0DC78-DDE6-0A85-CB33-E48EA444B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8197B-D177-AA93-F4C7-3AF239A1F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6585-4042-66EA-BAB3-408C6B6B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F45F5-FC9A-F0E2-E4B1-3437C5825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27CE1-8135-7521-1075-2D97D7DA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1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35FB-665F-CF5A-370D-B6727EE3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0444D-B2AB-4E85-7BE4-A0030F02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51F7B-DA3C-1130-186F-CA529DF45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45971-0C47-EF76-0C06-446E0086B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FECDB-88B2-B355-5AC5-E1193B74B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48CA20-5782-62A8-7E5A-90AF09499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7D6F28-8B8D-BB51-50EB-9450B83A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7671F-B61A-B3CB-FECE-3C25EC54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24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6BC4-2AD9-74DF-AA44-E2ACB592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EF73F-C5FA-6F33-DB7D-138A61B0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97AB7-5AFE-A319-74D4-BDA1C049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FC681-4A89-1DF7-FBDE-6E57A8BB0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19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CD44A-AEB7-0A51-3749-CE0166FF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4F17D-F2A8-6D50-8CF8-480C6D02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58CE2-6FEB-90F1-2460-7C3CE39B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3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3FC6-652A-80E6-E0DA-B232F6C68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96C81-40C1-1423-084E-7A00F4AFE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1B529-2753-77FB-F4A2-1D52B2B82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AF738-B093-FADA-9997-3AB8E25D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F169B-BDAE-416C-10FC-54FF9551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0D3D8-E73C-E28C-A156-9AEFAF8F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5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D1B9-3252-04E3-4B20-166CE634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558864-4653-FD46-D558-C377A0C78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5B9-463F-D43D-CB7C-F0E3F5C1D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156A7-E224-2C14-1A21-702A9FE4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0FE22-17C6-617F-C110-8D14E839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1FACA-165D-31B8-AEFD-E7FC456B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13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6490-EE23-ABDC-64E8-FAE825B2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2021E-C754-029D-B5FF-CF6C7B315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05257-3039-E62E-3E65-8D9D4935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A9858-7613-D715-C04C-14E54C7F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93AC0-243E-96D5-6A47-C04D9AAB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5C5F3F-1584-733F-F6F9-40E34DDE3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9803F-EBAA-0888-DC16-9C42DAD99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FDE67-FB1E-6E3A-44D8-7E9A6BB3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6A92C-C7F4-C683-819C-B66DD04C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6915E-3BFF-B561-87B4-F8658CDD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9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41916D-46B0-9068-A13B-84D07484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46C40-F853-3CF1-0B8A-50EB9F575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AA3DF-F70B-7028-7F06-ED6BF8F02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35D77-271A-C34D-987D-D12DC731995C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0F2F-C75C-6CF9-8951-A2B2AE698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2BA94-C184-2301-39AE-4CE73779A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D60AD-59C3-A34B-BE44-733753BA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8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customXml" Target="../ink/ink1.xml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700A80-4BDF-F042-C19B-7B54727351B0}"/>
              </a:ext>
            </a:extLst>
          </p:cNvPr>
          <p:cNvSpPr txBox="1"/>
          <p:nvPr/>
        </p:nvSpPr>
        <p:spPr>
          <a:xfrm>
            <a:off x="407624" y="176270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F_20140524_CA</a:t>
            </a:r>
          </a:p>
        </p:txBody>
      </p:sp>
      <p:pic>
        <p:nvPicPr>
          <p:cNvPr id="10" name="Picture 9" descr="A bar with text on it&#10;&#10;AI-generated content may be incorrect.">
            <a:extLst>
              <a:ext uri="{FF2B5EF4-FFF2-40B4-BE49-F238E27FC236}">
                <a16:creationId xmlns:a16="http://schemas.microsoft.com/office/drawing/2014/main" id="{E78E8430-B0E9-E064-B3A5-5EF5B397C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628314"/>
            <a:ext cx="7772400" cy="17876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B1EE17-929C-E066-6F99-E1D095260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39692"/>
            <a:ext cx="11957625" cy="6772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73CBDD-B8FD-EEB2-3FBB-30554777F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979694"/>
            <a:ext cx="7772400" cy="1018452"/>
          </a:xfrm>
          <a:prstGeom prst="rect">
            <a:avLst/>
          </a:prstGeom>
        </p:spPr>
      </p:pic>
      <p:pic>
        <p:nvPicPr>
          <p:cNvPr id="15" name="Picture 1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43202654-9F83-A1B2-0B37-51D40410E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012" y="5069583"/>
            <a:ext cx="37719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77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DA5E3-A322-D320-F5AD-92C0F5E3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B2B33D-DBDA-CFBF-C8BD-91EA263319AF}"/>
              </a:ext>
            </a:extLst>
          </p:cNvPr>
          <p:cNvSpPr txBox="1"/>
          <p:nvPr/>
        </p:nvSpPr>
        <p:spPr>
          <a:xfrm>
            <a:off x="407624" y="176270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d_20140524_CA</a:t>
            </a:r>
          </a:p>
        </p:txBody>
      </p:sp>
      <p:pic>
        <p:nvPicPr>
          <p:cNvPr id="3" name="Picture 2" descr="A graph with a line&#10;&#10;AI-generated content may be incorrect.">
            <a:extLst>
              <a:ext uri="{FF2B5EF4-FFF2-40B4-BE49-F238E27FC236}">
                <a16:creationId xmlns:a16="http://schemas.microsoft.com/office/drawing/2014/main" id="{9BBC4B4B-624E-2BBE-6BD2-3FD501231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86" y="545602"/>
            <a:ext cx="7772400" cy="19315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FBF5CC-9178-0EA6-07F2-DC8C233DF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86" y="2477158"/>
            <a:ext cx="7772400" cy="48447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BB66B8-6843-A7AF-9363-88C24947C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24" y="3615687"/>
            <a:ext cx="7772400" cy="983350"/>
          </a:xfrm>
          <a:prstGeom prst="rect">
            <a:avLst/>
          </a:prstGeom>
        </p:spPr>
      </p:pic>
      <p:pic>
        <p:nvPicPr>
          <p:cNvPr id="11" name="Picture 10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8A6DC149-1288-C075-71DA-4A3E7A8B6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400" y="4956516"/>
            <a:ext cx="4546600" cy="1562100"/>
          </a:xfrm>
          <a:prstGeom prst="rect">
            <a:avLst/>
          </a:prstGeom>
        </p:spPr>
      </p:pic>
      <p:pic>
        <p:nvPicPr>
          <p:cNvPr id="16" name="Picture 1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D28EADF-D84A-17F9-DC0E-1028A34C72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886" y="5369135"/>
            <a:ext cx="4637314" cy="73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06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9A284-35AC-6C1F-5A37-D6867893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F92F-CE39-8733-1404-434FAFF0F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1607E-E7ED-7885-EDE5-9361A7DE7E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FE03F-65D0-19C8-0F13-BA230D3EE19F}"/>
              </a:ext>
            </a:extLst>
          </p:cNvPr>
          <p:cNvSpPr txBox="1"/>
          <p:nvPr/>
        </p:nvSpPr>
        <p:spPr>
          <a:xfrm>
            <a:off x="38100" y="24324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F_20170812_VA</a:t>
            </a:r>
          </a:p>
        </p:txBody>
      </p:sp>
      <p:pic>
        <p:nvPicPr>
          <p:cNvPr id="10" name="Picture 9" descr="A diagram with a graph&#10;&#10;AI-generated content may be incorrect.">
            <a:extLst>
              <a:ext uri="{FF2B5EF4-FFF2-40B4-BE49-F238E27FC236}">
                <a16:creationId xmlns:a16="http://schemas.microsoft.com/office/drawing/2014/main" id="{05156FBF-7319-4A0D-66B0-49CD95A6D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433" y="343453"/>
            <a:ext cx="7772400" cy="2720340"/>
          </a:xfrm>
          <a:prstGeom prst="rect">
            <a:avLst/>
          </a:prstGeom>
        </p:spPr>
      </p:pic>
      <p:pic>
        <p:nvPicPr>
          <p:cNvPr id="14" name="Picture 1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FA34ADDA-6ECE-B534-72DF-A6ADB0EE1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433" y="3063793"/>
            <a:ext cx="70612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4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8183945E-8C68-3596-CC3C-98DB63BFF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63511"/>
            <a:ext cx="5666582" cy="5666582"/>
          </a:xfrm>
          <a:prstGeom prst="rect">
            <a:avLst/>
          </a:prstGeom>
        </p:spPr>
      </p:pic>
      <p:pic>
        <p:nvPicPr>
          <p:cNvPr id="6" name="Picture 5" descr="A table of numbers on a black background&#10;&#10;AI-generated content may be incorrect.">
            <a:extLst>
              <a:ext uri="{FF2B5EF4-FFF2-40B4-BE49-F238E27FC236}">
                <a16:creationId xmlns:a16="http://schemas.microsoft.com/office/drawing/2014/main" id="{2EFAD880-0091-6769-D0F4-7F324BEA6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992312"/>
            <a:ext cx="7772400" cy="26089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4502C4-66CD-902C-6FA3-5D1F71782C14}"/>
              </a:ext>
            </a:extLst>
          </p:cNvPr>
          <p:cNvSpPr txBox="1"/>
          <p:nvPr/>
        </p:nvSpPr>
        <p:spPr>
          <a:xfrm>
            <a:off x="38100" y="24324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F_20170812_VA</a:t>
            </a:r>
          </a:p>
        </p:txBody>
      </p:sp>
    </p:spTree>
    <p:extLst>
      <p:ext uri="{BB962C8B-B14F-4D97-AF65-F5344CB8AC3E}">
        <p14:creationId xmlns:p14="http://schemas.microsoft.com/office/powerpoint/2010/main" val="235648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17733-DF36-F42A-560D-01B6C302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75E7-DC6D-8A47-F312-2C7105985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0630C-9156-6976-BEEA-478FEF4B77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020CF-A07E-27F7-29DE-F433FF48992A}"/>
              </a:ext>
            </a:extLst>
          </p:cNvPr>
          <p:cNvSpPr txBox="1"/>
          <p:nvPr/>
        </p:nvSpPr>
        <p:spPr>
          <a:xfrm>
            <a:off x="38100" y="24324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d_20170812_VA</a:t>
            </a:r>
          </a:p>
        </p:txBody>
      </p:sp>
      <p:pic>
        <p:nvPicPr>
          <p:cNvPr id="11" name="Picture 10" descr="A graph with black text&#10;&#10;AI-generated content may be incorrect.">
            <a:extLst>
              <a:ext uri="{FF2B5EF4-FFF2-40B4-BE49-F238E27FC236}">
                <a16:creationId xmlns:a16="http://schemas.microsoft.com/office/drawing/2014/main" id="{E3BFC1AD-DA68-DB81-8156-79B5CB737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65" y="1030288"/>
            <a:ext cx="7772400" cy="17816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540CA7-355F-8875-FE47-EF9D54152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9" y="2564066"/>
            <a:ext cx="7772400" cy="339958"/>
          </a:xfrm>
          <a:prstGeom prst="rect">
            <a:avLst/>
          </a:prstGeom>
        </p:spPr>
      </p:pic>
      <p:pic>
        <p:nvPicPr>
          <p:cNvPr id="16" name="Picture 1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8C72D33C-2FCD-DEE5-F930-D5B7AE312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504" y="3698027"/>
            <a:ext cx="4140200" cy="1295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DB820D-C533-EE82-F6F9-4C51B42FD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585" y="310468"/>
            <a:ext cx="7772400" cy="910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3DD965-22A3-8BF3-B279-6E43D3096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354" y="5853112"/>
            <a:ext cx="60325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28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D8F7-6A5C-AF26-636D-AB948578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95D95-1D74-57CD-DC34-1D9E8A6679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F6C8D-FC72-6396-BE31-202B2E6F1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480" y="3759201"/>
            <a:ext cx="9144000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C9299-0795-3BDC-148A-0FE23AE48E31}"/>
              </a:ext>
            </a:extLst>
          </p:cNvPr>
          <p:cNvSpPr txBox="1"/>
          <p:nvPr/>
        </p:nvSpPr>
        <p:spPr>
          <a:xfrm>
            <a:off x="-18540" y="-14288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F_20160612_FL</a:t>
            </a:r>
          </a:p>
        </p:txBody>
      </p:sp>
      <p:pic>
        <p:nvPicPr>
          <p:cNvPr id="18" name="Picture 17" descr="A graph with multiple colored lines&#10;&#10;AI-generated content may be incorrect.">
            <a:extLst>
              <a:ext uri="{FF2B5EF4-FFF2-40B4-BE49-F238E27FC236}">
                <a16:creationId xmlns:a16="http://schemas.microsoft.com/office/drawing/2014/main" id="{1C61996D-C6E6-D49D-84BC-42AA942F7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540" y="1211184"/>
            <a:ext cx="6836735" cy="3931122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CCB4C0-BEEC-E0B0-63BD-9215D8864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35" y="617854"/>
            <a:ext cx="5651065" cy="511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0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9BE64-4BBD-EA03-06E3-1048C4D5E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map&#10;&#10;AI-generated content may be incorrect.">
            <a:extLst>
              <a:ext uri="{FF2B5EF4-FFF2-40B4-BE49-F238E27FC236}">
                <a16:creationId xmlns:a16="http://schemas.microsoft.com/office/drawing/2014/main" id="{8043C1B6-7DE4-CDFD-82DC-08D4F690F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8540" y="365125"/>
            <a:ext cx="5392738" cy="5392738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BEBE4B8-D2BE-AA3B-B363-C1B97601A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538" y="365125"/>
            <a:ext cx="6388100" cy="571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1A0E3E-01A3-11E7-3C3A-7BD056984797}"/>
              </a:ext>
            </a:extLst>
          </p:cNvPr>
          <p:cNvSpPr txBox="1"/>
          <p:nvPr/>
        </p:nvSpPr>
        <p:spPr>
          <a:xfrm>
            <a:off x="-18540" y="-14288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F_20160612_FL</a:t>
            </a:r>
          </a:p>
        </p:txBody>
      </p:sp>
    </p:spTree>
    <p:extLst>
      <p:ext uri="{BB962C8B-B14F-4D97-AF65-F5344CB8AC3E}">
        <p14:creationId xmlns:p14="http://schemas.microsoft.com/office/powerpoint/2010/main" val="427129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44B7-1496-76B0-DA4A-AC041CE3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94E4CDA-CA16-0B50-2046-B1413CDE7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759" y="1186490"/>
            <a:ext cx="6431041" cy="2076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61A738-EF34-EF6A-AA0F-CB7F81A545F4}"/>
              </a:ext>
            </a:extLst>
          </p:cNvPr>
          <p:cNvSpPr txBox="1"/>
          <p:nvPr/>
        </p:nvSpPr>
        <p:spPr>
          <a:xfrm>
            <a:off x="-18540" y="-14288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d_20160612_FL</a:t>
            </a:r>
          </a:p>
        </p:txBody>
      </p:sp>
      <p:pic>
        <p:nvPicPr>
          <p:cNvPr id="12" name="Content Placeholder 11" descr="A diagram of a map&#10;&#10;AI-generated content may be incorrect.">
            <a:extLst>
              <a:ext uri="{FF2B5EF4-FFF2-40B4-BE49-F238E27FC236}">
                <a16:creationId xmlns:a16="http://schemas.microsoft.com/office/drawing/2014/main" id="{FE44733B-D30E-6490-231A-DE4EEEF48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5807" y="1690688"/>
            <a:ext cx="4371267" cy="4351338"/>
          </a:xfrm>
        </p:spPr>
      </p:pic>
      <p:pic>
        <p:nvPicPr>
          <p:cNvPr id="14" name="Picture 1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14B77230-ED1A-987C-17E7-FC8C091BF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050" y="3429000"/>
            <a:ext cx="1912778" cy="320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38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36BDA-143E-C208-AAD6-C97E28BF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AAA9-96FE-DF1C-1158-9E21FE745B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34E3C-8A76-A03A-732E-541687893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F5E04-BB14-C0D0-76D1-59C2198159D9}"/>
              </a:ext>
            </a:extLst>
          </p:cNvPr>
          <p:cNvSpPr txBox="1"/>
          <p:nvPr/>
        </p:nvSpPr>
        <p:spPr>
          <a:xfrm>
            <a:off x="0" y="-3264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F_20171031_NY</a:t>
            </a:r>
          </a:p>
        </p:txBody>
      </p:sp>
      <p:pic>
        <p:nvPicPr>
          <p:cNvPr id="14" name="Picture 13" descr="A graph with colorful lines and text&#10;&#10;AI-generated content may be incorrect.">
            <a:extLst>
              <a:ext uri="{FF2B5EF4-FFF2-40B4-BE49-F238E27FC236}">
                <a16:creationId xmlns:a16="http://schemas.microsoft.com/office/drawing/2014/main" id="{8F1CCAFB-B851-26BF-2866-A8730EDB0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003"/>
            <a:ext cx="7772400" cy="621792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700DC2-A695-E5E7-5439-81B1D8865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0"/>
            <a:ext cx="5872163" cy="3948817"/>
          </a:xfrm>
          <a:prstGeom prst="rect">
            <a:avLst/>
          </a:prstGeom>
        </p:spPr>
      </p:pic>
      <p:pic>
        <p:nvPicPr>
          <p:cNvPr id="16" name="Picture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9419EAD-AFDF-405C-6436-956275CA5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05007"/>
            <a:ext cx="5977594" cy="390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4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60C6D-766B-D36B-9240-EE9A7BA7C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227F-7ACD-DF95-8A40-27810FC61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FF9B2-DFC2-40FF-D044-E875DA84A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5A601-159B-0D64-097A-B2ECF235D82C}"/>
              </a:ext>
            </a:extLst>
          </p:cNvPr>
          <p:cNvSpPr txBox="1"/>
          <p:nvPr/>
        </p:nvSpPr>
        <p:spPr>
          <a:xfrm>
            <a:off x="0" y="-3264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d_20171031_NY</a:t>
            </a:r>
          </a:p>
        </p:txBody>
      </p:sp>
      <p:pic>
        <p:nvPicPr>
          <p:cNvPr id="6" name="Picture 5" descr="A graph with multiple colored lines&#10;&#10;AI-generated content may be incorrect.">
            <a:extLst>
              <a:ext uri="{FF2B5EF4-FFF2-40B4-BE49-F238E27FC236}">
                <a16:creationId xmlns:a16="http://schemas.microsoft.com/office/drawing/2014/main" id="{A1C28684-3BA2-92F8-D9A4-4739799C8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570" y="61874"/>
            <a:ext cx="7772400" cy="376058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6BBE7A-5DAD-D186-1DEE-D55A01503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05" y="3429000"/>
            <a:ext cx="7772400" cy="25456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08DB6B-50D5-9607-EA8B-EF608A268D67}"/>
                  </a:ext>
                </a:extLst>
              </p14:cNvPr>
              <p14:cNvContentPartPr/>
              <p14:nvPr/>
            </p14:nvContentPartPr>
            <p14:xfrm>
              <a:off x="2730850" y="892080"/>
              <a:ext cx="955800" cy="57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08DB6B-50D5-9607-EA8B-EF608A268D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95210" y="820440"/>
                <a:ext cx="102744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F2427C6-7F5B-AF0C-2F1B-363A1279AD3B}"/>
                  </a:ext>
                </a:extLst>
              </p14:cNvPr>
              <p14:cNvContentPartPr/>
              <p14:nvPr/>
            </p14:nvContentPartPr>
            <p14:xfrm>
              <a:off x="2702770" y="1028160"/>
              <a:ext cx="991080" cy="9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F2427C6-7F5B-AF0C-2F1B-363A1279AD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66770" y="956520"/>
                <a:ext cx="10627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F73F255-B780-6DCA-CE8C-9D653D643FAC}"/>
                  </a:ext>
                </a:extLst>
              </p14:cNvPr>
              <p14:cNvContentPartPr/>
              <p14:nvPr/>
            </p14:nvContentPartPr>
            <p14:xfrm>
              <a:off x="2727610" y="1197000"/>
              <a:ext cx="959760" cy="9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F73F255-B780-6DCA-CE8C-9D653D643FA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91970" y="1125360"/>
                <a:ext cx="1031400" cy="15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70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4816747F-F62D-0559-5A3A-A87B4D336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6750" y="1027906"/>
            <a:ext cx="4351338" cy="4351338"/>
          </a:xfr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EAAA81D-9A90-598A-E5A4-54D15B52B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013" y="181402"/>
            <a:ext cx="6527800" cy="5867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0B766C-C48E-F3AB-41CB-11DAD79B6B01}"/>
              </a:ext>
            </a:extLst>
          </p:cNvPr>
          <p:cNvSpPr txBox="1"/>
          <p:nvPr/>
        </p:nvSpPr>
        <p:spPr>
          <a:xfrm>
            <a:off x="0" y="-3264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F_20171031_NY</a:t>
            </a:r>
          </a:p>
        </p:txBody>
      </p:sp>
    </p:spTree>
    <p:extLst>
      <p:ext uri="{BB962C8B-B14F-4D97-AF65-F5344CB8AC3E}">
        <p14:creationId xmlns:p14="http://schemas.microsoft.com/office/powerpoint/2010/main" val="2433473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DE30-DDAC-1D7F-E906-9CC7D93D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611AB-891D-339B-2318-E286E29D23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09DCD-2A65-8D73-F73E-F682E55EE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67E9D-B89F-644E-1033-D5CC09A2DBC7}"/>
              </a:ext>
            </a:extLst>
          </p:cNvPr>
          <p:cNvSpPr txBox="1"/>
          <p:nvPr/>
        </p:nvSpPr>
        <p:spPr>
          <a:xfrm>
            <a:off x="0" y="-3264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d_20171031_NY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157A05-9248-DFE0-9051-F35AE6D120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91" t="1225" r="873" b="1784"/>
          <a:stretch>
            <a:fillRect/>
          </a:stretch>
        </p:blipFill>
        <p:spPr>
          <a:xfrm>
            <a:off x="104171" y="571032"/>
            <a:ext cx="4896091" cy="5369859"/>
          </a:xfrm>
          <a:prstGeom prst="rect">
            <a:avLst/>
          </a:prstGeom>
        </p:spPr>
      </p:pic>
      <p:pic>
        <p:nvPicPr>
          <p:cNvPr id="8" name="Picture 7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3590D0E4-560F-C2BA-C0C4-253CA5056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429" y="79609"/>
            <a:ext cx="7772400" cy="2514600"/>
          </a:xfrm>
          <a:prstGeom prst="rect">
            <a:avLst/>
          </a:prstGeom>
        </p:spPr>
      </p:pic>
      <p:pic>
        <p:nvPicPr>
          <p:cNvPr id="10" name="Picture 9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13C828F7-4E37-5D1E-283B-38093956E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316" y="2594209"/>
            <a:ext cx="1975549" cy="365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6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003AD-EB14-BA15-339D-ACE49A2C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aph of a clustering chart&#10;&#10;AI-generated content may be incorrect.">
            <a:extLst>
              <a:ext uri="{FF2B5EF4-FFF2-40B4-BE49-F238E27FC236}">
                <a16:creationId xmlns:a16="http://schemas.microsoft.com/office/drawing/2014/main" id="{A2193B42-EE0A-E7EF-1CE0-0073BAB9C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82"/>
          <a:stretch>
            <a:fillRect/>
          </a:stretch>
        </p:blipFill>
        <p:spPr>
          <a:xfrm>
            <a:off x="-1" y="669798"/>
            <a:ext cx="7244657" cy="5465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340492-DF80-D07E-8226-B0F5874D235F}"/>
              </a:ext>
            </a:extLst>
          </p:cNvPr>
          <p:cNvSpPr txBox="1"/>
          <p:nvPr/>
        </p:nvSpPr>
        <p:spPr>
          <a:xfrm>
            <a:off x="0" y="0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F_20250602_CO</a:t>
            </a:r>
          </a:p>
        </p:txBody>
      </p:sp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B7927D7-3299-7471-E104-7C7EF66B5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487" y="-1"/>
            <a:ext cx="5785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52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3EBD58CE-6933-4421-9A91-593A0D9C3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0368" y="1253331"/>
            <a:ext cx="4794966" cy="4351338"/>
          </a:xfrm>
          <a:prstGeom prst="rect">
            <a:avLst/>
          </a:prstGeom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AF57B075-80B8-A875-22D9-0BA2B99F4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66" y="0"/>
            <a:ext cx="6858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23B5EA-8DDE-42A8-787E-719BB5FF112F}"/>
              </a:ext>
            </a:extLst>
          </p:cNvPr>
          <p:cNvSpPr txBox="1"/>
          <p:nvPr/>
        </p:nvSpPr>
        <p:spPr>
          <a:xfrm>
            <a:off x="0" y="0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F_20250602_CO</a:t>
            </a:r>
          </a:p>
        </p:txBody>
      </p:sp>
    </p:spTree>
    <p:extLst>
      <p:ext uri="{BB962C8B-B14F-4D97-AF65-F5344CB8AC3E}">
        <p14:creationId xmlns:p14="http://schemas.microsoft.com/office/powerpoint/2010/main" val="391949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F3DAE-719D-ADF5-4FCD-ACD6106C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F6335A-53EA-E2D9-6B7F-EC221992EE83}"/>
              </a:ext>
            </a:extLst>
          </p:cNvPr>
          <p:cNvSpPr txBox="1"/>
          <p:nvPr/>
        </p:nvSpPr>
        <p:spPr>
          <a:xfrm>
            <a:off x="0" y="0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D_20250602_CO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53B64A-22B7-A996-A5EC-C2C26A8C8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579"/>
            <a:ext cx="7772400" cy="1964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74355B-4BFF-E96A-8241-3122819D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7" y="3519101"/>
            <a:ext cx="7772400" cy="3195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36DD04-3C6F-EC33-6A59-F54DD115F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0" y="2535520"/>
            <a:ext cx="7772400" cy="888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7C53C6-C40F-33D8-B885-AAC4AED81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4368800"/>
            <a:ext cx="622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69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399C-CBB1-BAD5-A5D8-0D7A0340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F73999-D772-7F51-C0BE-106F4477C340}"/>
              </a:ext>
            </a:extLst>
          </p:cNvPr>
          <p:cNvSpPr txBox="1"/>
          <p:nvPr/>
        </p:nvSpPr>
        <p:spPr>
          <a:xfrm>
            <a:off x="0" y="0"/>
            <a:ext cx="336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d_20250602_CO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643D3-7755-8965-2B71-283AFDE89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60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33163</TotalTime>
  <Words>250</Words>
  <Application>Microsoft Macintosh PowerPoint</Application>
  <PresentationFormat>Widescreen</PresentationFormat>
  <Paragraphs>62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Lugos</dc:creator>
  <cp:lastModifiedBy>Emily Lugos</cp:lastModifiedBy>
  <cp:revision>6</cp:revision>
  <dcterms:created xsi:type="dcterms:W3CDTF">2025-06-24T21:32:04Z</dcterms:created>
  <dcterms:modified xsi:type="dcterms:W3CDTF">2025-08-07T17:22:02Z</dcterms:modified>
</cp:coreProperties>
</file>