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7" r:id="rId2"/>
    <p:sldId id="284" r:id="rId3"/>
    <p:sldId id="265" r:id="rId4"/>
    <p:sldId id="266" r:id="rId5"/>
    <p:sldId id="267" r:id="rId6"/>
    <p:sldId id="268" r:id="rId7"/>
    <p:sldId id="258" r:id="rId8"/>
    <p:sldId id="271" r:id="rId9"/>
    <p:sldId id="272" r:id="rId10"/>
    <p:sldId id="273" r:id="rId11"/>
    <p:sldId id="275" r:id="rId12"/>
    <p:sldId id="270" r:id="rId13"/>
    <p:sldId id="285" r:id="rId14"/>
    <p:sldId id="277" r:id="rId15"/>
    <p:sldId id="274" r:id="rId16"/>
    <p:sldId id="278" r:id="rId17"/>
    <p:sldId id="279" r:id="rId18"/>
    <p:sldId id="281" r:id="rId19"/>
    <p:sldId id="282" r:id="rId20"/>
    <p:sldId id="283" r:id="rId21"/>
    <p:sldId id="286" r:id="rId22"/>
    <p:sldId id="288" r:id="rId23"/>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p:restoredTop sz="67209"/>
  </p:normalViewPr>
  <p:slideViewPr>
    <p:cSldViewPr snapToGrid="0">
      <p:cViewPr varScale="1">
        <p:scale>
          <a:sx n="72" d="100"/>
          <a:sy n="72" d="100"/>
        </p:scale>
        <p:origin x="196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9A851A-F803-6B40-91A7-2881B5C1D413}"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F5D468-E2DA-8B40-831D-520F7D522D7C}" type="slidenum">
              <a:rPr lang="en-US" smtClean="0"/>
              <a:t>‹#›</a:t>
            </a:fld>
            <a:endParaRPr lang="en-US"/>
          </a:p>
        </p:txBody>
      </p:sp>
    </p:spTree>
    <p:extLst>
      <p:ext uri="{BB962C8B-B14F-4D97-AF65-F5344CB8AC3E}">
        <p14:creationId xmlns:p14="http://schemas.microsoft.com/office/powerpoint/2010/main" val="75652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GDELT Project (Global Database of Events, Language, and Tone)</a:t>
            </a:r>
            <a:r>
              <a:rPr lang="en-US" dirty="0"/>
              <a:t> is an open database that continuously monitors the world’s news media in over 100 languages and transforms it into structured data for analysis.</a:t>
            </a:r>
          </a:p>
          <a:p>
            <a:endParaRPr lang="en-US" dirty="0"/>
          </a:p>
          <a:p>
            <a:r>
              <a:rPr lang="en-US" dirty="0"/>
              <a:t>It grabs news sources every 15 minutes and reports events, actors, location, tone, and news sources. It is a very large database.</a:t>
            </a:r>
          </a:p>
        </p:txBody>
      </p:sp>
      <p:sp>
        <p:nvSpPr>
          <p:cNvPr id="4" name="Slide Number Placeholder 3"/>
          <p:cNvSpPr>
            <a:spLocks noGrp="1"/>
          </p:cNvSpPr>
          <p:nvPr>
            <p:ph type="sldNum" sz="quarter" idx="5"/>
          </p:nvPr>
        </p:nvSpPr>
        <p:spPr/>
        <p:txBody>
          <a:bodyPr/>
          <a:lstStyle/>
          <a:p>
            <a:fld id="{ACBB5775-1DF9-9A4F-8365-AD638C658209}" type="slidenum">
              <a:rPr lang="en-US" smtClean="0"/>
              <a:t>2</a:t>
            </a:fld>
            <a:endParaRPr lang="en-US"/>
          </a:p>
        </p:txBody>
      </p:sp>
    </p:spTree>
    <p:extLst>
      <p:ext uri="{BB962C8B-B14F-4D97-AF65-F5344CB8AC3E}">
        <p14:creationId xmlns:p14="http://schemas.microsoft.com/office/powerpoint/2010/main" val="194155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event similarity currently determined</a:t>
            </a:r>
          </a:p>
          <a:p>
            <a:endParaRPr lang="en-US" dirty="0"/>
          </a:p>
          <a:p>
            <a:r>
              <a:rPr lang="en-US" dirty="0"/>
              <a:t>Hope is we can track history repeating itself by plotting </a:t>
            </a:r>
          </a:p>
        </p:txBody>
      </p:sp>
      <p:sp>
        <p:nvSpPr>
          <p:cNvPr id="4" name="Slide Number Placeholder 3"/>
          <p:cNvSpPr>
            <a:spLocks noGrp="1"/>
          </p:cNvSpPr>
          <p:nvPr>
            <p:ph type="sldNum" sz="quarter" idx="5"/>
          </p:nvPr>
        </p:nvSpPr>
        <p:spPr/>
        <p:txBody>
          <a:bodyPr/>
          <a:lstStyle/>
          <a:p>
            <a:fld id="{ACBB5775-1DF9-9A4F-8365-AD638C658209}" type="slidenum">
              <a:rPr lang="en-US" smtClean="0"/>
              <a:t>3</a:t>
            </a:fld>
            <a:endParaRPr lang="en-US"/>
          </a:p>
        </p:txBody>
      </p:sp>
    </p:spTree>
    <p:extLst>
      <p:ext uri="{BB962C8B-B14F-4D97-AF65-F5344CB8AC3E}">
        <p14:creationId xmlns:p14="http://schemas.microsoft.com/office/powerpoint/2010/main" val="122697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has been explored before but was used by </a:t>
            </a:r>
            <a:r>
              <a:rPr lang="en-US" sz="1200" b="0" i="0" u="none" strike="noStrike" kern="1200" dirty="0">
                <a:solidFill>
                  <a:schemeClr val="tx1"/>
                </a:solidFill>
                <a:effectLst/>
                <a:latin typeface="+mn-lt"/>
                <a:ea typeface="+mn-ea"/>
                <a:cs typeface="+mn-cs"/>
              </a:rPr>
              <a:t>focusing nouns, which, for specific stories makes sense. But I believe verbs also contribute if we want to cluster events themselves later.</a:t>
            </a:r>
          </a:p>
          <a:p>
            <a:r>
              <a:rPr lang="en-US" sz="1200" b="0" i="0" u="none" strike="noStrike" kern="1200" dirty="0">
                <a:solidFill>
                  <a:schemeClr val="tx1"/>
                </a:solidFill>
                <a:effectLst/>
                <a:latin typeface="+mn-lt"/>
                <a:ea typeface="+mn-ea"/>
                <a:cs typeface="+mn-cs"/>
              </a:rPr>
              <a:t>Also, a brute force approach was used and only looked at in 15 minute intervals. So news sources from 15. minutes of </a:t>
            </a:r>
            <a:r>
              <a:rPr lang="en-US" sz="1200" b="0" i="0" u="none" strike="noStrike" kern="1200" dirty="0" err="1">
                <a:solidFill>
                  <a:schemeClr val="tx1"/>
                </a:solidFill>
                <a:effectLst/>
                <a:latin typeface="+mn-lt"/>
                <a:ea typeface="+mn-ea"/>
                <a:cs typeface="+mn-cs"/>
              </a:rPr>
              <a:t>eachother</a:t>
            </a:r>
            <a:r>
              <a:rPr lang="en-US" sz="1200" b="0" i="0" u="none" strike="noStrike" kern="1200" dirty="0">
                <a:solidFill>
                  <a:schemeClr val="tx1"/>
                </a:solidFill>
                <a:effectLst/>
                <a:latin typeface="+mn-lt"/>
                <a:ea typeface="+mn-ea"/>
                <a:cs typeface="+mn-cs"/>
              </a:rPr>
              <a:t> would be the only ones compared.</a:t>
            </a:r>
          </a:p>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4</a:t>
            </a:fld>
            <a:endParaRPr lang="en-US"/>
          </a:p>
        </p:txBody>
      </p:sp>
    </p:spTree>
    <p:extLst>
      <p:ext uri="{BB962C8B-B14F-4D97-AF65-F5344CB8AC3E}">
        <p14:creationId xmlns:p14="http://schemas.microsoft.com/office/powerpoint/2010/main" val="2464899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pypi.org</a:t>
            </a:r>
            <a:r>
              <a:rPr lang="en-US" dirty="0"/>
              <a:t>/project/</a:t>
            </a:r>
            <a:r>
              <a:rPr lang="en-US" dirty="0" err="1"/>
              <a:t>stanford-openie</a:t>
            </a:r>
            <a:r>
              <a:rPr lang="en-US" dirty="0"/>
              <a:t>/</a:t>
            </a:r>
          </a:p>
        </p:txBody>
      </p:sp>
      <p:sp>
        <p:nvSpPr>
          <p:cNvPr id="4" name="Slide Number Placeholder 3"/>
          <p:cNvSpPr>
            <a:spLocks noGrp="1"/>
          </p:cNvSpPr>
          <p:nvPr>
            <p:ph type="sldNum" sz="quarter" idx="5"/>
          </p:nvPr>
        </p:nvSpPr>
        <p:spPr/>
        <p:txBody>
          <a:bodyPr/>
          <a:lstStyle/>
          <a:p>
            <a:fld id="{ACBB5775-1DF9-9A4F-8365-AD638C658209}" type="slidenum">
              <a:rPr lang="en-US" smtClean="0"/>
              <a:t>5</a:t>
            </a:fld>
            <a:endParaRPr lang="en-US"/>
          </a:p>
        </p:txBody>
      </p:sp>
    </p:spTree>
    <p:extLst>
      <p:ext uri="{BB962C8B-B14F-4D97-AF65-F5344CB8AC3E}">
        <p14:creationId xmlns:p14="http://schemas.microsoft.com/office/powerpoint/2010/main" val="2335337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6</a:t>
            </a:fld>
            <a:endParaRPr lang="en-US"/>
          </a:p>
        </p:txBody>
      </p:sp>
    </p:spTree>
    <p:extLst>
      <p:ext uri="{BB962C8B-B14F-4D97-AF65-F5344CB8AC3E}">
        <p14:creationId xmlns:p14="http://schemas.microsoft.com/office/powerpoint/2010/main" val="3130870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7</a:t>
            </a:fld>
            <a:endParaRPr lang="en-US"/>
          </a:p>
        </p:txBody>
      </p:sp>
    </p:spTree>
    <p:extLst>
      <p:ext uri="{BB962C8B-B14F-4D97-AF65-F5344CB8AC3E}">
        <p14:creationId xmlns:p14="http://schemas.microsoft.com/office/powerpoint/2010/main" val="1502331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DBSCAN</a:t>
            </a:r>
            <a:r>
              <a:rPr lang="en-US" dirty="0"/>
              <a:t> is a </a:t>
            </a:r>
            <a:r>
              <a:rPr lang="en-US" b="1" dirty="0"/>
              <a:t>density-based clustering algorithm</a:t>
            </a:r>
            <a:r>
              <a:rPr lang="en-US" dirty="0"/>
              <a:t> that groups data points into clusters based on regions of </a:t>
            </a:r>
            <a:r>
              <a:rPr lang="en-US" b="1" dirty="0"/>
              <a:t>high local point density</a:t>
            </a:r>
            <a:r>
              <a:rPr lang="en-US" dirty="0"/>
              <a:t>, rather than distance to a center.</a:t>
            </a:r>
          </a:p>
          <a:p>
            <a:r>
              <a:rPr lang="en-US" b="1" dirty="0"/>
              <a:t>Why DBSCAN is Used</a:t>
            </a:r>
          </a:p>
          <a:p>
            <a:r>
              <a:rPr lang="en-US" dirty="0"/>
              <a:t>✅ </a:t>
            </a:r>
            <a:r>
              <a:rPr lang="en-US" b="1" dirty="0"/>
              <a:t>Automatically finds the number of clusters</a:t>
            </a:r>
            <a:endParaRPr lang="en-US" dirty="0"/>
          </a:p>
          <a:p>
            <a:r>
              <a:rPr lang="en-US" dirty="0"/>
              <a:t>✅ </a:t>
            </a:r>
            <a:r>
              <a:rPr lang="en-US" b="1" dirty="0"/>
              <a:t>Detects arbitrarily shaped clusters</a:t>
            </a:r>
            <a:endParaRPr lang="en-US" dirty="0"/>
          </a:p>
          <a:p>
            <a:r>
              <a:rPr lang="en-US" dirty="0"/>
              <a:t>✅ </a:t>
            </a:r>
            <a:r>
              <a:rPr lang="en-US" b="1" dirty="0"/>
              <a:t>Explicitly identifies noise and outliers</a:t>
            </a:r>
            <a:endParaRPr lang="en-US" dirty="0"/>
          </a:p>
          <a:p>
            <a:r>
              <a:rPr lang="en-US" dirty="0"/>
              <a:t>✅ </a:t>
            </a:r>
            <a:r>
              <a:rPr lang="en-US" b="1" dirty="0"/>
              <a:t>Robust to outliers</a:t>
            </a:r>
            <a:r>
              <a:rPr lang="en-US" dirty="0"/>
              <a:t> because isolated points in low-density regions are labeled as </a:t>
            </a:r>
            <a:r>
              <a:rPr lang="en-US" b="1" dirty="0"/>
              <a:t>noise</a:t>
            </a:r>
            <a:r>
              <a:rPr lang="en-US" dirty="0"/>
              <a:t> instead of being forced into a cluster</a:t>
            </a:r>
          </a:p>
          <a:p>
            <a:endParaRPr lang="en-US" dirty="0"/>
          </a:p>
          <a:p>
            <a:endParaRPr lang="en-US" dirty="0"/>
          </a:p>
          <a:p>
            <a:r>
              <a:rPr lang="en-US" dirty="0"/>
              <a:t>Unlike centroid-based methods (e.g., k-means), DBSCAN </a:t>
            </a:r>
            <a:r>
              <a:rPr lang="en-US" b="1" dirty="0"/>
              <a:t>does not pull clusters toward extreme values</a:t>
            </a:r>
            <a:r>
              <a:rPr lang="en-US" dirty="0"/>
              <a:t>. Outliers remain </a:t>
            </a:r>
            <a:r>
              <a:rPr lang="en-US" b="1" dirty="0"/>
              <a:t>separate</a:t>
            </a:r>
            <a:r>
              <a:rPr lang="en-US" dirty="0"/>
              <a:t>, which makes it especially effective for </a:t>
            </a:r>
            <a:r>
              <a:rPr lang="en-US" b="1" dirty="0"/>
              <a:t>real-world, noisy data</a:t>
            </a:r>
            <a:r>
              <a:rPr lang="en-US" dirty="0"/>
              <a:t>.</a:t>
            </a:r>
          </a:p>
        </p:txBody>
      </p:sp>
      <p:sp>
        <p:nvSpPr>
          <p:cNvPr id="4" name="Slide Number Placeholder 3"/>
          <p:cNvSpPr>
            <a:spLocks noGrp="1"/>
          </p:cNvSpPr>
          <p:nvPr>
            <p:ph type="sldNum" sz="quarter" idx="5"/>
          </p:nvPr>
        </p:nvSpPr>
        <p:spPr/>
        <p:txBody>
          <a:bodyPr/>
          <a:lstStyle/>
          <a:p>
            <a:fld id="{34F5D468-E2DA-8B40-831D-520F7D522D7C}" type="slidenum">
              <a:rPr lang="en-US" smtClean="0"/>
              <a:t>8</a:t>
            </a:fld>
            <a:endParaRPr lang="en-US"/>
          </a:p>
        </p:txBody>
      </p:sp>
    </p:spTree>
    <p:extLst>
      <p:ext uri="{BB962C8B-B14F-4D97-AF65-F5344CB8AC3E}">
        <p14:creationId xmlns:p14="http://schemas.microsoft.com/office/powerpoint/2010/main" val="2422741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visualization shows </a:t>
            </a:r>
            <a:r>
              <a:rPr lang="en-US" b="1" dirty="0"/>
              <a:t>spectral collapse caused by an over-connected affinity graph and/or insufficient embedding dimension</a:t>
            </a:r>
            <a:r>
              <a:rPr lang="en-US" dirty="0"/>
              <a:t>, making all clusters geometrically indistinguishable and forcing DBSCAN to overlap them.</a:t>
            </a:r>
          </a:p>
          <a:p>
            <a:endParaRPr lang="en-US" dirty="0"/>
          </a:p>
          <a:p>
            <a:r>
              <a:rPr lang="en-US" dirty="0"/>
              <a:t>Too much noise</a:t>
            </a:r>
          </a:p>
          <a:p>
            <a:r>
              <a:rPr lang="en-US" dirty="0"/>
              <a:t>Too little correlation, brick wall</a:t>
            </a:r>
          </a:p>
        </p:txBody>
      </p:sp>
      <p:sp>
        <p:nvSpPr>
          <p:cNvPr id="4" name="Slide Number Placeholder 3"/>
          <p:cNvSpPr>
            <a:spLocks noGrp="1"/>
          </p:cNvSpPr>
          <p:nvPr>
            <p:ph type="sldNum" sz="quarter" idx="5"/>
          </p:nvPr>
        </p:nvSpPr>
        <p:spPr/>
        <p:txBody>
          <a:bodyPr/>
          <a:lstStyle/>
          <a:p>
            <a:fld id="{34F5D468-E2DA-8B40-831D-520F7D522D7C}" type="slidenum">
              <a:rPr lang="en-US" smtClean="0"/>
              <a:t>9</a:t>
            </a:fld>
            <a:endParaRPr lang="en-US"/>
          </a:p>
        </p:txBody>
      </p:sp>
    </p:spTree>
    <p:extLst>
      <p:ext uri="{BB962C8B-B14F-4D97-AF65-F5344CB8AC3E}">
        <p14:creationId xmlns:p14="http://schemas.microsoft.com/office/powerpoint/2010/main" val="279196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10</a:t>
            </a:fld>
            <a:endParaRPr lang="en-US"/>
          </a:p>
        </p:txBody>
      </p:sp>
    </p:spTree>
    <p:extLst>
      <p:ext uri="{BB962C8B-B14F-4D97-AF65-F5344CB8AC3E}">
        <p14:creationId xmlns:p14="http://schemas.microsoft.com/office/powerpoint/2010/main" val="2420148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11201-2E7B-383D-683E-2CA149123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04688-7193-0073-06C1-BD32B9C0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73F08-E474-8D40-6805-3A023BF3A004}"/>
              </a:ext>
            </a:extLst>
          </p:cNvPr>
          <p:cNvSpPr>
            <a:spLocks noGrp="1"/>
          </p:cNvSpPr>
          <p:nvPr>
            <p:ph type="body" idx="1"/>
          </p:nvPr>
        </p:nvSpPr>
        <p:spPr/>
        <p:txBody>
          <a:bodyPr/>
          <a:lstStyle/>
          <a:p>
            <a:r>
              <a:rPr lang="en-US" dirty="0"/>
              <a:t>https://</a:t>
            </a:r>
            <a:r>
              <a:rPr lang="en-US" dirty="0" err="1"/>
              <a:t>pypi.org</a:t>
            </a:r>
            <a:r>
              <a:rPr lang="en-US" dirty="0"/>
              <a:t>/project/</a:t>
            </a:r>
            <a:r>
              <a:rPr lang="en-US" dirty="0" err="1"/>
              <a:t>stanford-openie</a:t>
            </a:r>
            <a:r>
              <a:rPr lang="en-US" dirty="0"/>
              <a:t>/</a:t>
            </a:r>
          </a:p>
        </p:txBody>
      </p:sp>
      <p:sp>
        <p:nvSpPr>
          <p:cNvPr id="4" name="Slide Number Placeholder 3">
            <a:extLst>
              <a:ext uri="{FF2B5EF4-FFF2-40B4-BE49-F238E27FC236}">
                <a16:creationId xmlns:a16="http://schemas.microsoft.com/office/drawing/2014/main" id="{0B80D9D4-4CC8-FD36-76C5-90A040371AF4}"/>
              </a:ext>
            </a:extLst>
          </p:cNvPr>
          <p:cNvSpPr>
            <a:spLocks noGrp="1"/>
          </p:cNvSpPr>
          <p:nvPr>
            <p:ph type="sldNum" sz="quarter" idx="5"/>
          </p:nvPr>
        </p:nvSpPr>
        <p:spPr/>
        <p:txBody>
          <a:bodyPr/>
          <a:lstStyle/>
          <a:p>
            <a:fld id="{ACBB5775-1DF9-9A4F-8365-AD638C658209}" type="slidenum">
              <a:rPr lang="en-US" smtClean="0"/>
              <a:t>11</a:t>
            </a:fld>
            <a:endParaRPr lang="en-US"/>
          </a:p>
        </p:txBody>
      </p:sp>
    </p:spTree>
    <p:extLst>
      <p:ext uri="{BB962C8B-B14F-4D97-AF65-F5344CB8AC3E}">
        <p14:creationId xmlns:p14="http://schemas.microsoft.com/office/powerpoint/2010/main" val="2543324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9A32A-1244-DB6C-FAEE-D01C2C89B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87A55-6C26-BA6C-235F-D067E91C3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BB852-6856-59FA-87A3-6D93489EE534}"/>
              </a:ext>
            </a:extLst>
          </p:cNvPr>
          <p:cNvSpPr>
            <a:spLocks noGrp="1"/>
          </p:cNvSpPr>
          <p:nvPr>
            <p:ph type="body" idx="1"/>
          </p:nvPr>
        </p:nvSpPr>
        <p:spPr/>
        <p:txBody>
          <a:bodyPr/>
          <a:lstStyle/>
          <a:p>
            <a:r>
              <a:rPr lang="en-US" dirty="0"/>
              <a:t>https://</a:t>
            </a:r>
            <a:r>
              <a:rPr lang="en-US" dirty="0" err="1"/>
              <a:t>pypi.org</a:t>
            </a:r>
            <a:r>
              <a:rPr lang="en-US" dirty="0"/>
              <a:t>/project/</a:t>
            </a:r>
            <a:r>
              <a:rPr lang="en-US" dirty="0" err="1"/>
              <a:t>stanford-openie</a:t>
            </a:r>
            <a:r>
              <a:rPr lang="en-US" dirty="0"/>
              <a:t>/</a:t>
            </a:r>
          </a:p>
        </p:txBody>
      </p:sp>
      <p:sp>
        <p:nvSpPr>
          <p:cNvPr id="4" name="Slide Number Placeholder 3">
            <a:extLst>
              <a:ext uri="{FF2B5EF4-FFF2-40B4-BE49-F238E27FC236}">
                <a16:creationId xmlns:a16="http://schemas.microsoft.com/office/drawing/2014/main" id="{4C147F95-FC48-2BD7-6A57-7F44CA7E5473}"/>
              </a:ext>
            </a:extLst>
          </p:cNvPr>
          <p:cNvSpPr>
            <a:spLocks noGrp="1"/>
          </p:cNvSpPr>
          <p:nvPr>
            <p:ph type="sldNum" sz="quarter" idx="5"/>
          </p:nvPr>
        </p:nvSpPr>
        <p:spPr/>
        <p:txBody>
          <a:bodyPr/>
          <a:lstStyle/>
          <a:p>
            <a:fld id="{ACBB5775-1DF9-9A4F-8365-AD638C658209}" type="slidenum">
              <a:rPr lang="en-US" smtClean="0"/>
              <a:t>12</a:t>
            </a:fld>
            <a:endParaRPr lang="en-US"/>
          </a:p>
        </p:txBody>
      </p:sp>
    </p:spTree>
    <p:extLst>
      <p:ext uri="{BB962C8B-B14F-4D97-AF65-F5344CB8AC3E}">
        <p14:creationId xmlns:p14="http://schemas.microsoft.com/office/powerpoint/2010/main" val="2346835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6D3B-B34A-8E20-20A9-E0788F368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03333-4130-5248-536B-85012E615F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7C511-B713-962D-793D-CB4832CEFD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54842E-BD8B-B84E-7043-072387392F4F}"/>
              </a:ext>
            </a:extLst>
          </p:cNvPr>
          <p:cNvSpPr>
            <a:spLocks noGrp="1"/>
          </p:cNvSpPr>
          <p:nvPr>
            <p:ph type="sldNum" sz="quarter" idx="5"/>
          </p:nvPr>
        </p:nvSpPr>
        <p:spPr/>
        <p:txBody>
          <a:bodyPr/>
          <a:lstStyle/>
          <a:p>
            <a:fld id="{ACBB5775-1DF9-9A4F-8365-AD638C658209}" type="slidenum">
              <a:rPr lang="en-US" smtClean="0"/>
              <a:t>13</a:t>
            </a:fld>
            <a:endParaRPr lang="en-US"/>
          </a:p>
        </p:txBody>
      </p:sp>
    </p:spTree>
    <p:extLst>
      <p:ext uri="{BB962C8B-B14F-4D97-AF65-F5344CB8AC3E}">
        <p14:creationId xmlns:p14="http://schemas.microsoft.com/office/powerpoint/2010/main" val="3282217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Conflict and Mediation Event Observations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CAMEO</a:t>
            </a:r>
            <a:r>
              <a:rPr lang="en-US" sz="1200" b="0" i="0" kern="1200" dirty="0">
                <a:solidFill>
                  <a:schemeClr val="tx1"/>
                </a:solidFill>
                <a:effectLst/>
                <a:latin typeface="+mn-lt"/>
                <a:ea typeface="+mn-ea"/>
                <a:cs typeface="+mn-cs"/>
              </a:rPr>
              <a:t>) is a framework for coding event data (typically used for events that merit news coverage, and generally applied to the study of political news and violence)</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News text is processed with NLP to extract actors and actions, which are then mapped to standardized CAMEO event codes to produce structured conflict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This gives us information of the news article without ever having to read it</a:t>
            </a:r>
            <a:endParaRPr lang="en-US" dirty="0"/>
          </a:p>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14</a:t>
            </a:fld>
            <a:endParaRPr lang="en-US"/>
          </a:p>
        </p:txBody>
      </p:sp>
    </p:spTree>
    <p:extLst>
      <p:ext uri="{BB962C8B-B14F-4D97-AF65-F5344CB8AC3E}">
        <p14:creationId xmlns:p14="http://schemas.microsoft.com/office/powerpoint/2010/main" val="44805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Semi-Supervised Learning (SSL)</a:t>
            </a:r>
          </a:p>
          <a:p>
            <a:r>
              <a:rPr lang="en-US" b="1" dirty="0"/>
              <a:t>A semi-supervised model is trained using a small amount of labeled data together with a large amount of unlabeled data to improve learning accuracy and generalization.</a:t>
            </a:r>
            <a:endParaRPr lang="en-US" dirty="0"/>
          </a:p>
          <a:p>
            <a:r>
              <a:rPr lang="en-US" dirty="0"/>
              <a:t>✅ Labeled data is </a:t>
            </a:r>
            <a:r>
              <a:rPr lang="en-US" b="1" dirty="0"/>
              <a:t>expensive or limited</a:t>
            </a:r>
            <a:endParaRPr lang="en-US" dirty="0"/>
          </a:p>
          <a:p>
            <a:r>
              <a:rPr lang="en-US" dirty="0"/>
              <a:t>✅ Unlabeled data is </a:t>
            </a:r>
            <a:r>
              <a:rPr lang="en-US" b="1" dirty="0"/>
              <a:t>abundant</a:t>
            </a:r>
            <a:endParaRPr lang="en-US" dirty="0"/>
          </a:p>
          <a:p>
            <a:r>
              <a:rPr lang="en-US" dirty="0"/>
              <a:t>✅ Improves performance over purely supervised learning</a:t>
            </a:r>
          </a:p>
          <a:p>
            <a:r>
              <a:rPr lang="en-US" dirty="0"/>
              <a:t>✅ Common in </a:t>
            </a:r>
            <a:r>
              <a:rPr lang="en-US" b="1" dirty="0"/>
              <a:t>NLP, vision, graph learning, and anomaly detection</a:t>
            </a:r>
            <a:endParaRPr lang="en-US" dirty="0"/>
          </a:p>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15</a:t>
            </a:fld>
            <a:endParaRPr lang="en-US"/>
          </a:p>
        </p:txBody>
      </p:sp>
    </p:spTree>
    <p:extLst>
      <p:ext uri="{BB962C8B-B14F-4D97-AF65-F5344CB8AC3E}">
        <p14:creationId xmlns:p14="http://schemas.microsoft.com/office/powerpoint/2010/main" val="2484750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Contrastive loss is a training objective that learns relationships between data points by operating on pairs of examples rather than individual samples. Each pair is labeled as either similar or dissimilar, and both items in the pair are passed through the same neural network to produce their embeddings. The distance between these embeddings is then computed, and the loss function is applied in a way that pulls similar pairs closer together in the embedding space while pushing dissimilar pairs farther apart up to a defined margin. Through repeated optimization, the model reshapes the embedding space so that geometric distance directly reflects semantic or relational similarity, making the learned representations well-suited for tasks such as clustering, semantic search, and retrieval.</a:t>
            </a:r>
          </a:p>
        </p:txBody>
      </p:sp>
      <p:sp>
        <p:nvSpPr>
          <p:cNvPr id="4" name="Slide Number Placeholder 3"/>
          <p:cNvSpPr>
            <a:spLocks noGrp="1"/>
          </p:cNvSpPr>
          <p:nvPr>
            <p:ph type="sldNum" sz="quarter" idx="5"/>
          </p:nvPr>
        </p:nvSpPr>
        <p:spPr/>
        <p:txBody>
          <a:bodyPr/>
          <a:lstStyle/>
          <a:p>
            <a:fld id="{34F5D468-E2DA-8B40-831D-520F7D522D7C}" type="slidenum">
              <a:rPr lang="en-US" smtClean="0"/>
              <a:t>16</a:t>
            </a:fld>
            <a:endParaRPr lang="en-US"/>
          </a:p>
        </p:txBody>
      </p:sp>
    </p:spTree>
    <p:extLst>
      <p:ext uri="{BB962C8B-B14F-4D97-AF65-F5344CB8AC3E}">
        <p14:creationId xmlns:p14="http://schemas.microsoft.com/office/powerpoint/2010/main" val="1966393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4D85B-93FE-EC8D-6BCC-793679D81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A9B83-98E8-F22A-B2DA-5AFF0E953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11836-116B-9EBB-A7B9-604837C1DD0C}"/>
              </a:ext>
            </a:extLst>
          </p:cNvPr>
          <p:cNvSpPr>
            <a:spLocks noGrp="1"/>
          </p:cNvSpPr>
          <p:nvPr>
            <p:ph type="body" idx="1"/>
          </p:nvPr>
        </p:nvSpPr>
        <p:spPr/>
        <p:txBody>
          <a:bodyPr/>
          <a:lstStyle/>
          <a:p>
            <a:r>
              <a:rPr lang="en-US" dirty="0"/>
              <a:t>We start with the initial semantic </a:t>
            </a:r>
            <a:r>
              <a:rPr lang="en-US" dirty="0" err="1"/>
              <a:t>sbert</a:t>
            </a:r>
            <a:r>
              <a:rPr lang="en-US" dirty="0"/>
              <a:t> embeddings and pull together according to similar/dissimilar event codes</a:t>
            </a:r>
          </a:p>
          <a:p>
            <a:endParaRPr lang="en-US" dirty="0"/>
          </a:p>
          <a:p>
            <a:r>
              <a:rPr lang="en-US" dirty="0"/>
              <a:t>From a dataset of 5000 points, </a:t>
            </a:r>
          </a:p>
          <a:p>
            <a:r>
              <a:rPr lang="en-US" dirty="0"/>
              <a:t>Randomly sample 1000 for x and </a:t>
            </a:r>
          </a:p>
          <a:p>
            <a:r>
              <a:rPr lang="en-US" dirty="0"/>
              <a:t>Sample 1000 for y and compare if similar or not</a:t>
            </a:r>
          </a:p>
          <a:p>
            <a:endParaRPr lang="en-US" dirty="0"/>
          </a:p>
          <a:p>
            <a:r>
              <a:rPr lang="en-US" dirty="0"/>
              <a:t>Affectively going into the black box of data and seeing what we randomly pull</a:t>
            </a:r>
          </a:p>
        </p:txBody>
      </p:sp>
      <p:sp>
        <p:nvSpPr>
          <p:cNvPr id="4" name="Slide Number Placeholder 3">
            <a:extLst>
              <a:ext uri="{FF2B5EF4-FFF2-40B4-BE49-F238E27FC236}">
                <a16:creationId xmlns:a16="http://schemas.microsoft.com/office/drawing/2014/main" id="{B3B8E9EC-EC93-D3FF-EF13-A737F800791B}"/>
              </a:ext>
            </a:extLst>
          </p:cNvPr>
          <p:cNvSpPr>
            <a:spLocks noGrp="1"/>
          </p:cNvSpPr>
          <p:nvPr>
            <p:ph type="sldNum" sz="quarter" idx="5"/>
          </p:nvPr>
        </p:nvSpPr>
        <p:spPr/>
        <p:txBody>
          <a:bodyPr/>
          <a:lstStyle/>
          <a:p>
            <a:fld id="{34F5D468-E2DA-8B40-831D-520F7D522D7C}" type="slidenum">
              <a:rPr lang="en-US" smtClean="0"/>
              <a:t>17</a:t>
            </a:fld>
            <a:endParaRPr lang="en-US"/>
          </a:p>
        </p:txBody>
      </p:sp>
    </p:spTree>
    <p:extLst>
      <p:ext uri="{BB962C8B-B14F-4D97-AF65-F5344CB8AC3E}">
        <p14:creationId xmlns:p14="http://schemas.microsoft.com/office/powerpoint/2010/main" val="86577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 learns quickly at first and then converges smoothly, indicating stable training but limited additional improvement after convergence.</a:t>
            </a:r>
          </a:p>
          <a:p>
            <a:endParaRPr lang="en-US" dirty="0"/>
          </a:p>
          <a:p>
            <a:r>
              <a:rPr lang="en-US" dirty="0"/>
              <a:t>Represents distance, </a:t>
            </a:r>
          </a:p>
          <a:p>
            <a:r>
              <a:rPr lang="en-US" dirty="0"/>
              <a:t>We see the avg distance between articles of similar and dissimilar event codes are the same before training</a:t>
            </a:r>
          </a:p>
          <a:p>
            <a:r>
              <a:rPr lang="en-US" dirty="0"/>
              <a:t>After training, we see a significant gap meaning the model is learning well</a:t>
            </a:r>
          </a:p>
        </p:txBody>
      </p:sp>
      <p:sp>
        <p:nvSpPr>
          <p:cNvPr id="4" name="Slide Number Placeholder 3"/>
          <p:cNvSpPr>
            <a:spLocks noGrp="1"/>
          </p:cNvSpPr>
          <p:nvPr>
            <p:ph type="sldNum" sz="quarter" idx="5"/>
          </p:nvPr>
        </p:nvSpPr>
        <p:spPr/>
        <p:txBody>
          <a:bodyPr/>
          <a:lstStyle/>
          <a:p>
            <a:fld id="{34F5D468-E2DA-8B40-831D-520F7D522D7C}" type="slidenum">
              <a:rPr lang="en-US" smtClean="0"/>
              <a:t>18</a:t>
            </a:fld>
            <a:endParaRPr lang="en-US"/>
          </a:p>
        </p:txBody>
      </p:sp>
    </p:spTree>
    <p:extLst>
      <p:ext uri="{BB962C8B-B14F-4D97-AF65-F5344CB8AC3E}">
        <p14:creationId xmlns:p14="http://schemas.microsoft.com/office/powerpoint/2010/main" val="200158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between similar and </a:t>
            </a:r>
            <a:r>
              <a:rPr lang="en-US" dirty="0" err="1"/>
              <a:t>opp</a:t>
            </a:r>
            <a:r>
              <a:rPr lang="en-US" dirty="0"/>
              <a:t> in learned model</a:t>
            </a:r>
          </a:p>
        </p:txBody>
      </p:sp>
      <p:sp>
        <p:nvSpPr>
          <p:cNvPr id="4" name="Slide Number Placeholder 3"/>
          <p:cNvSpPr>
            <a:spLocks noGrp="1"/>
          </p:cNvSpPr>
          <p:nvPr>
            <p:ph type="sldNum" sz="quarter" idx="5"/>
          </p:nvPr>
        </p:nvSpPr>
        <p:spPr/>
        <p:txBody>
          <a:bodyPr/>
          <a:lstStyle/>
          <a:p>
            <a:fld id="{34F5D468-E2DA-8B40-831D-520F7D522D7C}" type="slidenum">
              <a:rPr lang="en-US" smtClean="0"/>
              <a:t>19</a:t>
            </a:fld>
            <a:endParaRPr lang="en-US"/>
          </a:p>
        </p:txBody>
      </p:sp>
    </p:spTree>
    <p:extLst>
      <p:ext uri="{BB962C8B-B14F-4D97-AF65-F5344CB8AC3E}">
        <p14:creationId xmlns:p14="http://schemas.microsoft.com/office/powerpoint/2010/main" val="1287696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20</a:t>
            </a:fld>
            <a:endParaRPr lang="en-US"/>
          </a:p>
        </p:txBody>
      </p:sp>
    </p:spTree>
    <p:extLst>
      <p:ext uri="{BB962C8B-B14F-4D97-AF65-F5344CB8AC3E}">
        <p14:creationId xmlns:p14="http://schemas.microsoft.com/office/powerpoint/2010/main" val="376015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21</a:t>
            </a:fld>
            <a:endParaRPr lang="en-US"/>
          </a:p>
        </p:txBody>
      </p:sp>
    </p:spTree>
    <p:extLst>
      <p:ext uri="{BB962C8B-B14F-4D97-AF65-F5344CB8AC3E}">
        <p14:creationId xmlns:p14="http://schemas.microsoft.com/office/powerpoint/2010/main" val="1087722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D7D6A-1768-C269-DFA3-9DB2CA456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42A47-8E26-E62A-9EAB-9118DCA49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EEEAF-CE15-3084-2134-1610D3D05F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B87837-5646-4719-AC0C-509F91FD2F6E}"/>
              </a:ext>
            </a:extLst>
          </p:cNvPr>
          <p:cNvSpPr>
            <a:spLocks noGrp="1"/>
          </p:cNvSpPr>
          <p:nvPr>
            <p:ph type="sldNum" sz="quarter" idx="5"/>
          </p:nvPr>
        </p:nvSpPr>
        <p:spPr/>
        <p:txBody>
          <a:bodyPr/>
          <a:lstStyle/>
          <a:p>
            <a:fld id="{34F5D468-E2DA-8B40-831D-520F7D522D7C}" type="slidenum">
              <a:rPr lang="en-US" smtClean="0"/>
              <a:t>22</a:t>
            </a:fld>
            <a:endParaRPr lang="en-US"/>
          </a:p>
        </p:txBody>
      </p:sp>
    </p:spTree>
    <p:extLst>
      <p:ext uri="{BB962C8B-B14F-4D97-AF65-F5344CB8AC3E}">
        <p14:creationId xmlns:p14="http://schemas.microsoft.com/office/powerpoint/2010/main" val="2082311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F5D468-E2DA-8B40-831D-520F7D522D7C}" type="slidenum">
              <a:rPr lang="en-US" smtClean="0"/>
              <a:t>23</a:t>
            </a:fld>
            <a:endParaRPr lang="en-US"/>
          </a:p>
        </p:txBody>
      </p:sp>
    </p:spTree>
    <p:extLst>
      <p:ext uri="{BB962C8B-B14F-4D97-AF65-F5344CB8AC3E}">
        <p14:creationId xmlns:p14="http://schemas.microsoft.com/office/powerpoint/2010/main" val="3710291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A2430-DEAA-15CD-CCEB-B858D8F6E4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2741B2-F39A-141B-5937-8A994B95FF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6FC66F-4E66-32EA-7245-1E9A374CEF42}"/>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5" name="Footer Placeholder 4">
            <a:extLst>
              <a:ext uri="{FF2B5EF4-FFF2-40B4-BE49-F238E27FC236}">
                <a16:creationId xmlns:a16="http://schemas.microsoft.com/office/drawing/2014/main" id="{4A60A084-DABA-A82C-3E8A-7EB49E9FD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C6D3FA-D154-2A85-1792-92C5BE8D6053}"/>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3414529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5269B-6FB8-56ED-1D32-526EF0C7A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346013-6353-7DF3-A02C-630BD6EAED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B3134-6615-A175-4870-AA6F75C09ADD}"/>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5" name="Footer Placeholder 4">
            <a:extLst>
              <a:ext uri="{FF2B5EF4-FFF2-40B4-BE49-F238E27FC236}">
                <a16:creationId xmlns:a16="http://schemas.microsoft.com/office/drawing/2014/main" id="{AA007B7A-E491-6137-83A9-6578C7B9E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0B65E0-E1E3-A373-3434-857CC3938DFF}"/>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274746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2573B-ECC7-9697-45E4-F4BB634E2D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7D1D79-9096-E29C-40DA-B3A229F1C0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6EE002-6F49-2A5E-7B45-38E8E7859172}"/>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5" name="Footer Placeholder 4">
            <a:extLst>
              <a:ext uri="{FF2B5EF4-FFF2-40B4-BE49-F238E27FC236}">
                <a16:creationId xmlns:a16="http://schemas.microsoft.com/office/drawing/2014/main" id="{83D70749-4156-22BF-DB99-D69540EC49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A5BF4-A42C-7CA9-9F89-272346E1997A}"/>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3151326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40EB9-4BB9-824D-D25B-202CA08DD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95A788-F112-3638-9545-5419BCB7B3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1A82F7-35C8-2A1C-CD3A-0530333F96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E4AC12-E076-7669-8042-BBFBDF12C6EF}"/>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6" name="Footer Placeholder 5">
            <a:extLst>
              <a:ext uri="{FF2B5EF4-FFF2-40B4-BE49-F238E27FC236}">
                <a16:creationId xmlns:a16="http://schemas.microsoft.com/office/drawing/2014/main" id="{5C869A55-518D-9BEE-CA21-5E942DE543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DBDACC-340C-EFAF-955A-57ED834DE497}"/>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1668827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B6AA-945C-C3BC-EB08-406CF54985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53E707-BE88-9335-8743-790A8BB6B9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6B9CFA-F9BC-DDE3-040F-142AB9F946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23E815-EC2A-D12A-82EF-8C66839DFD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2894A5-27D2-4459-E92C-DE2427A633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5D58EF-501F-AEAB-1951-934CCBA4139E}"/>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8" name="Footer Placeholder 7">
            <a:extLst>
              <a:ext uri="{FF2B5EF4-FFF2-40B4-BE49-F238E27FC236}">
                <a16:creationId xmlns:a16="http://schemas.microsoft.com/office/drawing/2014/main" id="{6DD7396B-B475-DE2D-6E37-B4CB973A8C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280EBD-0862-1131-6ADE-FEAA8B80C18B}"/>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480364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D5E9-5F1E-7EF4-59C9-5035C26FE0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3C25FF-BA12-262F-5ADE-FFE79F246833}"/>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4" name="Footer Placeholder 3">
            <a:extLst>
              <a:ext uri="{FF2B5EF4-FFF2-40B4-BE49-F238E27FC236}">
                <a16:creationId xmlns:a16="http://schemas.microsoft.com/office/drawing/2014/main" id="{26F9004E-8580-8DB4-846E-D562E91AA2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61FCDA-32BA-187E-D9D9-9E28CB419A27}"/>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545675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1DEED6-81A6-5A52-11A7-102FA95C7D3E}"/>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3" name="Footer Placeholder 2">
            <a:extLst>
              <a:ext uri="{FF2B5EF4-FFF2-40B4-BE49-F238E27FC236}">
                <a16:creationId xmlns:a16="http://schemas.microsoft.com/office/drawing/2014/main" id="{4B23ADB7-2D6E-BBC6-7AC1-0317C4A2B5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EA1A19-04F7-D2BA-C172-C6C3B62FA9A2}"/>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2626788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7D9CB-DA03-5D81-EB0B-759647671C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064D99-8BD8-31B0-3FC5-64C770F61F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AE3780-6644-18FF-F025-250CEE937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1301C6-D3EB-E6FF-4503-DC49D8A36035}"/>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6" name="Footer Placeholder 5">
            <a:extLst>
              <a:ext uri="{FF2B5EF4-FFF2-40B4-BE49-F238E27FC236}">
                <a16:creationId xmlns:a16="http://schemas.microsoft.com/office/drawing/2014/main" id="{651431E6-007A-5D86-5B3E-A47AAEFD41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0EF446-1B72-DC7B-A639-74A05AFD421B}"/>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411609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D259F-EDD0-D6EE-1A60-9DF5668A4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CF62CD-E7D6-B12B-D302-91D3DD6C8F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D9C0CF-CA03-CEB3-BE39-2BE44FFFEE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49A7D-A4A9-BB6E-5F4E-54A97E717A73}"/>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6" name="Footer Placeholder 5">
            <a:extLst>
              <a:ext uri="{FF2B5EF4-FFF2-40B4-BE49-F238E27FC236}">
                <a16:creationId xmlns:a16="http://schemas.microsoft.com/office/drawing/2014/main" id="{4B9FF22D-1522-8093-5448-3CD450B2B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86228D-C686-BD0E-5ED7-AF9BC75C2FAF}"/>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2499009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F9040-15FB-955F-D521-BDF2ECBF37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B9861-CB2F-C827-D803-5C343A221B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D740D0-DB1D-A752-A65B-7222ED60B43B}"/>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5" name="Footer Placeholder 4">
            <a:extLst>
              <a:ext uri="{FF2B5EF4-FFF2-40B4-BE49-F238E27FC236}">
                <a16:creationId xmlns:a16="http://schemas.microsoft.com/office/drawing/2014/main" id="{70C8B41D-3735-3803-1C1B-CF232C8E3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7871C-8A04-853D-915B-B650E33E9147}"/>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134999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43F22B-BAF5-84CA-7861-AA11550994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F3BB8F-57AB-70BF-93D6-1756CB2A7C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39908-50C8-047C-A216-1B49F994DDAC}"/>
              </a:ext>
            </a:extLst>
          </p:cNvPr>
          <p:cNvSpPr>
            <a:spLocks noGrp="1"/>
          </p:cNvSpPr>
          <p:nvPr>
            <p:ph type="dt" sz="half" idx="10"/>
          </p:nvPr>
        </p:nvSpPr>
        <p:spPr/>
        <p:txBody>
          <a:bodyPr/>
          <a:lstStyle/>
          <a:p>
            <a:fld id="{A7B61A76-AA83-9440-9963-27ACE2682ECB}" type="datetimeFigureOut">
              <a:rPr lang="en-US" smtClean="0"/>
              <a:t>12/7/25</a:t>
            </a:fld>
            <a:endParaRPr lang="en-US"/>
          </a:p>
        </p:txBody>
      </p:sp>
      <p:sp>
        <p:nvSpPr>
          <p:cNvPr id="5" name="Footer Placeholder 4">
            <a:extLst>
              <a:ext uri="{FF2B5EF4-FFF2-40B4-BE49-F238E27FC236}">
                <a16:creationId xmlns:a16="http://schemas.microsoft.com/office/drawing/2014/main" id="{D98ABE11-FB27-E39D-9EF1-34674919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F0D3D-9605-1856-657C-FB2C21E89762}"/>
              </a:ext>
            </a:extLst>
          </p:cNvPr>
          <p:cNvSpPr>
            <a:spLocks noGrp="1"/>
          </p:cNvSpPr>
          <p:nvPr>
            <p:ph type="sldNum" sz="quarter" idx="12"/>
          </p:nvPr>
        </p:nvSpPr>
        <p:spPr/>
        <p:txBody>
          <a:bodyPr/>
          <a:lstStyle/>
          <a:p>
            <a:fld id="{D75E94DE-46E1-3C44-A7DB-4FB1556D6E1F}" type="slidenum">
              <a:rPr lang="en-US" smtClean="0"/>
              <a:t>‹#›</a:t>
            </a:fld>
            <a:endParaRPr lang="en-US"/>
          </a:p>
        </p:txBody>
      </p:sp>
    </p:spTree>
    <p:extLst>
      <p:ext uri="{BB962C8B-B14F-4D97-AF65-F5344CB8AC3E}">
        <p14:creationId xmlns:p14="http://schemas.microsoft.com/office/powerpoint/2010/main" val="2760682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FA4CEB-0EDF-3514-E35E-4CFABC4BEF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84CAED-D762-26A8-B3E5-43480E1BAD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4D2C22-82E2-8626-FBAF-8A2017E265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B61A76-AA83-9440-9963-27ACE2682ECB}" type="datetimeFigureOut">
              <a:rPr lang="en-US" smtClean="0"/>
              <a:t>12/7/25</a:t>
            </a:fld>
            <a:endParaRPr lang="en-US"/>
          </a:p>
        </p:txBody>
      </p:sp>
      <p:sp>
        <p:nvSpPr>
          <p:cNvPr id="5" name="Footer Placeholder 4">
            <a:extLst>
              <a:ext uri="{FF2B5EF4-FFF2-40B4-BE49-F238E27FC236}">
                <a16:creationId xmlns:a16="http://schemas.microsoft.com/office/drawing/2014/main" id="{0B3EFFB8-33F8-4DFA-ADE3-A024374E1C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943222-8D29-4B49-B279-C6C4596D12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5E94DE-46E1-3C44-A7DB-4FB1556D6E1F}" type="slidenum">
              <a:rPr lang="en-US" smtClean="0"/>
              <a:t>‹#›</a:t>
            </a:fld>
            <a:endParaRPr lang="en-US"/>
          </a:p>
        </p:txBody>
      </p:sp>
    </p:spTree>
    <p:extLst>
      <p:ext uri="{BB962C8B-B14F-4D97-AF65-F5344CB8AC3E}">
        <p14:creationId xmlns:p14="http://schemas.microsoft.com/office/powerpoint/2010/main" val="206715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pexels.com/fr-fr/photo/briques-mur-mur-de-briques-mur-en-briques-207142/"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36CD8-BB4B-B167-D567-0B8FDD2140C9}"/>
              </a:ext>
            </a:extLst>
          </p:cNvPr>
          <p:cNvSpPr>
            <a:spLocks noGrp="1"/>
          </p:cNvSpPr>
          <p:nvPr>
            <p:ph type="ctrTitle"/>
          </p:nvPr>
        </p:nvSpPr>
        <p:spPr/>
        <p:txBody>
          <a:bodyPr>
            <a:normAutofit fontScale="90000"/>
          </a:bodyPr>
          <a:lstStyle/>
          <a:p>
            <a:r>
              <a:rPr lang="en-US" b="1" dirty="0"/>
              <a:t>Event Similarity in GDELT via Semantic Search</a:t>
            </a:r>
            <a:br>
              <a:rPr lang="en-US" dirty="0"/>
            </a:br>
            <a:endParaRPr lang="en-US" dirty="0"/>
          </a:p>
        </p:txBody>
      </p:sp>
      <p:sp>
        <p:nvSpPr>
          <p:cNvPr id="3" name="Subtitle 2">
            <a:extLst>
              <a:ext uri="{FF2B5EF4-FFF2-40B4-BE49-F238E27FC236}">
                <a16:creationId xmlns:a16="http://schemas.microsoft.com/office/drawing/2014/main" id="{42F2B4BF-CB74-9BC1-7309-AE937BC16BC0}"/>
              </a:ext>
            </a:extLst>
          </p:cNvPr>
          <p:cNvSpPr>
            <a:spLocks noGrp="1"/>
          </p:cNvSpPr>
          <p:nvPr>
            <p:ph type="subTitle" idx="1"/>
          </p:nvPr>
        </p:nvSpPr>
        <p:spPr/>
        <p:txBody>
          <a:bodyPr/>
          <a:lstStyle/>
          <a:p>
            <a:r>
              <a:rPr lang="en-US" dirty="0"/>
              <a:t>Emily Lugos, Dr. Mauricio </a:t>
            </a:r>
            <a:r>
              <a:rPr lang="en-US" dirty="0" err="1"/>
              <a:t>Gruppi</a:t>
            </a:r>
            <a:endParaRPr lang="en-US" dirty="0"/>
          </a:p>
        </p:txBody>
      </p:sp>
    </p:spTree>
    <p:extLst>
      <p:ext uri="{BB962C8B-B14F-4D97-AF65-F5344CB8AC3E}">
        <p14:creationId xmlns:p14="http://schemas.microsoft.com/office/powerpoint/2010/main" val="70687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5568-D1FD-78DD-D6CE-223150212A4F}"/>
              </a:ext>
            </a:extLst>
          </p:cNvPr>
          <p:cNvSpPr>
            <a:spLocks noGrp="1"/>
          </p:cNvSpPr>
          <p:nvPr>
            <p:ph type="title"/>
          </p:nvPr>
        </p:nvSpPr>
        <p:spPr/>
        <p:txBody>
          <a:bodyPr/>
          <a:lstStyle/>
          <a:p>
            <a:r>
              <a:rPr lang="en-US" dirty="0"/>
              <a:t>GDELT Database</a:t>
            </a:r>
          </a:p>
        </p:txBody>
      </p:sp>
      <p:sp>
        <p:nvSpPr>
          <p:cNvPr id="3" name="Content Placeholder 2">
            <a:extLst>
              <a:ext uri="{FF2B5EF4-FFF2-40B4-BE49-F238E27FC236}">
                <a16:creationId xmlns:a16="http://schemas.microsoft.com/office/drawing/2014/main" id="{C9727EA2-E6E0-E6E5-FB00-AE31772B59DE}"/>
              </a:ext>
            </a:extLst>
          </p:cNvPr>
          <p:cNvSpPr>
            <a:spLocks noGrp="1"/>
          </p:cNvSpPr>
          <p:nvPr>
            <p:ph idx="1"/>
          </p:nvPr>
        </p:nvSpPr>
        <p:spPr/>
        <p:txBody>
          <a:bodyPr/>
          <a:lstStyle/>
          <a:p>
            <a:endParaRPr lang="en-US"/>
          </a:p>
        </p:txBody>
      </p:sp>
      <p:pic>
        <p:nvPicPr>
          <p:cNvPr id="1026" name="Picture 2" descr="Data Tactics: GDELT-Board and GDELT Country Network Dashboard – The GDELT  Project">
            <a:extLst>
              <a:ext uri="{FF2B5EF4-FFF2-40B4-BE49-F238E27FC236}">
                <a16:creationId xmlns:a16="http://schemas.microsoft.com/office/drawing/2014/main" id="{0DC1C9AB-DB81-7B54-BD39-3D8F2506CF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354" y="1348230"/>
            <a:ext cx="10697291" cy="5306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444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E2B8-7F1D-586C-0609-1860B3981392}"/>
              </a:ext>
            </a:extLst>
          </p:cNvPr>
          <p:cNvSpPr>
            <a:spLocks noGrp="1"/>
          </p:cNvSpPr>
          <p:nvPr>
            <p:ph type="title"/>
          </p:nvPr>
        </p:nvSpPr>
        <p:spPr/>
        <p:txBody>
          <a:bodyPr/>
          <a:lstStyle/>
          <a:p>
            <a:r>
              <a:rPr lang="en-US" dirty="0"/>
              <a:t>Event similarity</a:t>
            </a:r>
          </a:p>
        </p:txBody>
      </p:sp>
      <p:sp>
        <p:nvSpPr>
          <p:cNvPr id="3" name="Content Placeholder 2">
            <a:extLst>
              <a:ext uri="{FF2B5EF4-FFF2-40B4-BE49-F238E27FC236}">
                <a16:creationId xmlns:a16="http://schemas.microsoft.com/office/drawing/2014/main" id="{087D0114-9078-050D-1124-E3B258AF45A1}"/>
              </a:ext>
            </a:extLst>
          </p:cNvPr>
          <p:cNvSpPr>
            <a:spLocks noGrp="1"/>
          </p:cNvSpPr>
          <p:nvPr>
            <p:ph idx="1"/>
          </p:nvPr>
        </p:nvSpPr>
        <p:spPr>
          <a:xfrm>
            <a:off x="838200" y="1440983"/>
            <a:ext cx="10515600" cy="4351338"/>
          </a:xfrm>
        </p:spPr>
        <p:txBody>
          <a:bodyPr/>
          <a:lstStyle/>
          <a:p>
            <a:r>
              <a:rPr lang="en-US" dirty="0"/>
              <a:t>Key words</a:t>
            </a:r>
          </a:p>
          <a:p>
            <a:r>
              <a:rPr lang="en-US" dirty="0"/>
              <a:t>Date and time</a:t>
            </a:r>
          </a:p>
        </p:txBody>
      </p:sp>
      <p:sp>
        <p:nvSpPr>
          <p:cNvPr id="4" name="Right Arrow 3">
            <a:extLst>
              <a:ext uri="{FF2B5EF4-FFF2-40B4-BE49-F238E27FC236}">
                <a16:creationId xmlns:a16="http://schemas.microsoft.com/office/drawing/2014/main" id="{94921EA4-84FE-3939-D354-91F97B6BFC35}"/>
              </a:ext>
            </a:extLst>
          </p:cNvPr>
          <p:cNvSpPr/>
          <p:nvPr/>
        </p:nvSpPr>
        <p:spPr>
          <a:xfrm>
            <a:off x="5401399" y="3950790"/>
            <a:ext cx="1547712" cy="355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F4A9797-C1C6-59D4-9C31-DC754B7AB805}"/>
              </a:ext>
            </a:extLst>
          </p:cNvPr>
          <p:cNvSpPr/>
          <p:nvPr/>
        </p:nvSpPr>
        <p:spPr>
          <a:xfrm>
            <a:off x="4834952" y="1256701"/>
            <a:ext cx="6347892"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History repeats itself</a:t>
            </a:r>
          </a:p>
        </p:txBody>
      </p:sp>
      <p:pic>
        <p:nvPicPr>
          <p:cNvPr id="5" name="Picture 2" descr="Causes of the Crimean War - Historic UK">
            <a:extLst>
              <a:ext uri="{FF2B5EF4-FFF2-40B4-BE49-F238E27FC236}">
                <a16:creationId xmlns:a16="http://schemas.microsoft.com/office/drawing/2014/main" id="{4DBC1E5A-BC4E-B077-BAF8-9ECA5C973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8" y="2801472"/>
            <a:ext cx="5159763" cy="26537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ow does Ukraine war end? Experts say 2023 could prove decisive, dangerous  — Harvard Gazette">
            <a:extLst>
              <a:ext uri="{FF2B5EF4-FFF2-40B4-BE49-F238E27FC236}">
                <a16:creationId xmlns:a16="http://schemas.microsoft.com/office/drawing/2014/main" id="{3482F38A-30B7-937E-AF4A-73824E386E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7772" y="2464408"/>
            <a:ext cx="4991099" cy="33279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66CD165-D641-27D7-98E4-167AC8CA2421}"/>
              </a:ext>
            </a:extLst>
          </p:cNvPr>
          <p:cNvSpPr txBox="1"/>
          <p:nvPr/>
        </p:nvSpPr>
        <p:spPr>
          <a:xfrm>
            <a:off x="1025236" y="5792321"/>
            <a:ext cx="2438400" cy="369332"/>
          </a:xfrm>
          <a:prstGeom prst="rect">
            <a:avLst/>
          </a:prstGeom>
          <a:noFill/>
        </p:spPr>
        <p:txBody>
          <a:bodyPr wrap="square" rtlCol="0">
            <a:spAutoFit/>
          </a:bodyPr>
          <a:lstStyle/>
          <a:p>
            <a:r>
              <a:rPr lang="en-US" dirty="0"/>
              <a:t>1850s Crimean war</a:t>
            </a:r>
          </a:p>
        </p:txBody>
      </p:sp>
      <p:sp>
        <p:nvSpPr>
          <p:cNvPr id="9" name="TextBox 8">
            <a:extLst>
              <a:ext uri="{FF2B5EF4-FFF2-40B4-BE49-F238E27FC236}">
                <a16:creationId xmlns:a16="http://schemas.microsoft.com/office/drawing/2014/main" id="{B6F80848-57B4-1DB5-BAED-DFB0745F8109}"/>
              </a:ext>
            </a:extLst>
          </p:cNvPr>
          <p:cNvSpPr txBox="1"/>
          <p:nvPr/>
        </p:nvSpPr>
        <p:spPr>
          <a:xfrm>
            <a:off x="8461662" y="5792321"/>
            <a:ext cx="3269673" cy="369332"/>
          </a:xfrm>
          <a:prstGeom prst="rect">
            <a:avLst/>
          </a:prstGeom>
          <a:noFill/>
        </p:spPr>
        <p:txBody>
          <a:bodyPr wrap="square" rtlCol="0">
            <a:spAutoFit/>
          </a:bodyPr>
          <a:lstStyle/>
          <a:p>
            <a:r>
              <a:rPr lang="en-US" dirty="0"/>
              <a:t>21</a:t>
            </a:r>
            <a:r>
              <a:rPr lang="en-US" baseline="30000" dirty="0"/>
              <a:t>st</a:t>
            </a:r>
            <a:r>
              <a:rPr lang="en-US" dirty="0"/>
              <a:t> century Ukraine War</a:t>
            </a:r>
          </a:p>
        </p:txBody>
      </p:sp>
    </p:spTree>
    <p:extLst>
      <p:ext uri="{BB962C8B-B14F-4D97-AF65-F5344CB8AC3E}">
        <p14:creationId xmlns:p14="http://schemas.microsoft.com/office/powerpoint/2010/main" val="1449506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9873-CBF5-B08C-5F2B-0A05D53D71C4}"/>
              </a:ext>
            </a:extLst>
          </p:cNvPr>
          <p:cNvSpPr>
            <a:spLocks noGrp="1"/>
          </p:cNvSpPr>
          <p:nvPr>
            <p:ph type="title"/>
          </p:nvPr>
        </p:nvSpPr>
        <p:spPr/>
        <p:txBody>
          <a:bodyPr/>
          <a:lstStyle/>
          <a:p>
            <a:r>
              <a:rPr lang="en-US" dirty="0"/>
              <a:t>GSG: GDELT</a:t>
            </a:r>
          </a:p>
        </p:txBody>
      </p:sp>
      <p:pic>
        <p:nvPicPr>
          <p:cNvPr id="5" name="Content Placeholder 4" descr="A colorful smoke in the sky&#10;&#10;AI-generated content may be incorrect.">
            <a:extLst>
              <a:ext uri="{FF2B5EF4-FFF2-40B4-BE49-F238E27FC236}">
                <a16:creationId xmlns:a16="http://schemas.microsoft.com/office/drawing/2014/main" id="{8312F096-6807-F139-B307-2CC282769677}"/>
              </a:ext>
            </a:extLst>
          </p:cNvPr>
          <p:cNvPicPr>
            <a:picLocks noGrp="1" noChangeAspect="1"/>
          </p:cNvPicPr>
          <p:nvPr>
            <p:ph idx="1"/>
          </p:nvPr>
        </p:nvPicPr>
        <p:blipFill>
          <a:blip r:embed="rId3"/>
          <a:stretch>
            <a:fillRect/>
          </a:stretch>
        </p:blipFill>
        <p:spPr>
          <a:xfrm>
            <a:off x="838200" y="1938543"/>
            <a:ext cx="10515600" cy="4125502"/>
          </a:xfrm>
        </p:spPr>
      </p:pic>
    </p:spTree>
    <p:extLst>
      <p:ext uri="{BB962C8B-B14F-4D97-AF65-F5344CB8AC3E}">
        <p14:creationId xmlns:p14="http://schemas.microsoft.com/office/powerpoint/2010/main" val="672350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14FE-5B22-79E0-F445-7A87BA1E8106}"/>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dirty="0"/>
              <a:t>Summarize articles</a:t>
            </a:r>
          </a:p>
        </p:txBody>
      </p:sp>
      <p:pic>
        <p:nvPicPr>
          <p:cNvPr id="7" name="Picture 6" descr="A screenshot of a computer&#10;&#10;AI-generated content may be incorrect.">
            <a:extLst>
              <a:ext uri="{FF2B5EF4-FFF2-40B4-BE49-F238E27FC236}">
                <a16:creationId xmlns:a16="http://schemas.microsoft.com/office/drawing/2014/main" id="{3F0F0C77-56D4-AF49-1063-852F6949AC7E}"/>
              </a:ext>
            </a:extLst>
          </p:cNvPr>
          <p:cNvPicPr>
            <a:picLocks noChangeAspect="1"/>
          </p:cNvPicPr>
          <p:nvPr/>
        </p:nvPicPr>
        <p:blipFill>
          <a:blip r:embed="rId3"/>
          <a:stretch>
            <a:fillRect/>
          </a:stretch>
        </p:blipFill>
        <p:spPr>
          <a:xfrm>
            <a:off x="5264883" y="4791"/>
            <a:ext cx="6691433" cy="3328988"/>
          </a:xfrm>
          <a:prstGeom prst="rect">
            <a:avLst/>
          </a:prstGeom>
        </p:spPr>
      </p:pic>
      <p:pic>
        <p:nvPicPr>
          <p:cNvPr id="4" name="Picture 3" descr="A diagram of a train&#10;&#10;AI-generated content may be incorrect.">
            <a:extLst>
              <a:ext uri="{FF2B5EF4-FFF2-40B4-BE49-F238E27FC236}">
                <a16:creationId xmlns:a16="http://schemas.microsoft.com/office/drawing/2014/main" id="{FC54BA81-7E1A-04B9-FBA4-2815E3386C44}"/>
              </a:ext>
            </a:extLst>
          </p:cNvPr>
          <p:cNvPicPr>
            <a:picLocks noChangeAspect="1"/>
          </p:cNvPicPr>
          <p:nvPr/>
        </p:nvPicPr>
        <p:blipFill>
          <a:blip r:embed="rId4"/>
          <a:stretch>
            <a:fillRect/>
          </a:stretch>
        </p:blipFill>
        <p:spPr>
          <a:xfrm>
            <a:off x="2181739" y="3429000"/>
            <a:ext cx="7828522" cy="2974838"/>
          </a:xfrm>
          <a:prstGeom prst="rect">
            <a:avLst/>
          </a:prstGeom>
        </p:spPr>
      </p:pic>
      <p:sp>
        <p:nvSpPr>
          <p:cNvPr id="9" name="TextBox 8">
            <a:extLst>
              <a:ext uri="{FF2B5EF4-FFF2-40B4-BE49-F238E27FC236}">
                <a16:creationId xmlns:a16="http://schemas.microsoft.com/office/drawing/2014/main" id="{A9921286-E47F-04FF-D7B0-F919CBBC0666}"/>
              </a:ext>
            </a:extLst>
          </p:cNvPr>
          <p:cNvSpPr txBox="1"/>
          <p:nvPr/>
        </p:nvSpPr>
        <p:spPr>
          <a:xfrm>
            <a:off x="101325" y="6488668"/>
            <a:ext cx="6100996" cy="369332"/>
          </a:xfrm>
          <a:prstGeom prst="rect">
            <a:avLst/>
          </a:prstGeom>
          <a:noFill/>
        </p:spPr>
        <p:txBody>
          <a:bodyPr wrap="square">
            <a:spAutoFit/>
          </a:bodyPr>
          <a:lstStyle/>
          <a:p>
            <a:r>
              <a:rPr lang="en-US" dirty="0"/>
              <a:t>https://</a:t>
            </a:r>
            <a:r>
              <a:rPr lang="en-US" dirty="0" err="1"/>
              <a:t>pypi.org</a:t>
            </a:r>
            <a:r>
              <a:rPr lang="en-US" dirty="0"/>
              <a:t>/project/</a:t>
            </a:r>
            <a:r>
              <a:rPr lang="en-US" dirty="0" err="1"/>
              <a:t>stanford-openie</a:t>
            </a:r>
            <a:r>
              <a:rPr lang="en-US" dirty="0"/>
              <a:t>/</a:t>
            </a:r>
          </a:p>
        </p:txBody>
      </p:sp>
    </p:spTree>
    <p:extLst>
      <p:ext uri="{BB962C8B-B14F-4D97-AF65-F5344CB8AC3E}">
        <p14:creationId xmlns:p14="http://schemas.microsoft.com/office/powerpoint/2010/main" val="242911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program&#10;&#10;AI-generated content may be incorrect.">
            <a:extLst>
              <a:ext uri="{FF2B5EF4-FFF2-40B4-BE49-F238E27FC236}">
                <a16:creationId xmlns:a16="http://schemas.microsoft.com/office/drawing/2014/main" id="{CA71E1BC-5232-9D89-59F1-D23811272097}"/>
              </a:ext>
            </a:extLst>
          </p:cNvPr>
          <p:cNvPicPr>
            <a:picLocks noGrp="1" noChangeAspect="1"/>
          </p:cNvPicPr>
          <p:nvPr>
            <p:ph idx="1"/>
          </p:nvPr>
        </p:nvPicPr>
        <p:blipFill>
          <a:blip r:embed="rId3"/>
          <a:stretch>
            <a:fillRect/>
          </a:stretch>
        </p:blipFill>
        <p:spPr>
          <a:xfrm>
            <a:off x="149902" y="2037367"/>
            <a:ext cx="6285266" cy="4351338"/>
          </a:xfrm>
        </p:spPr>
      </p:pic>
      <p:pic>
        <p:nvPicPr>
          <p:cNvPr id="7" name="Picture 6" descr="A logo of a molecule&#10;&#10;AI-generated content may be incorrect.">
            <a:extLst>
              <a:ext uri="{FF2B5EF4-FFF2-40B4-BE49-F238E27FC236}">
                <a16:creationId xmlns:a16="http://schemas.microsoft.com/office/drawing/2014/main" id="{60477564-12D9-31F8-A3EC-300B373D90C8}"/>
              </a:ext>
            </a:extLst>
          </p:cNvPr>
          <p:cNvPicPr>
            <a:picLocks noChangeAspect="1"/>
          </p:cNvPicPr>
          <p:nvPr/>
        </p:nvPicPr>
        <p:blipFill>
          <a:blip r:embed="rId4"/>
          <a:stretch>
            <a:fillRect/>
          </a:stretch>
        </p:blipFill>
        <p:spPr>
          <a:xfrm>
            <a:off x="149902" y="119856"/>
            <a:ext cx="3441700" cy="1816100"/>
          </a:xfrm>
          <a:prstGeom prst="rect">
            <a:avLst/>
          </a:prstGeom>
        </p:spPr>
      </p:pic>
      <p:pic>
        <p:nvPicPr>
          <p:cNvPr id="3" name="Picture 2" descr="A screenshot of a black screen&#10;&#10;AI-generated content may be incorrect.">
            <a:extLst>
              <a:ext uri="{FF2B5EF4-FFF2-40B4-BE49-F238E27FC236}">
                <a16:creationId xmlns:a16="http://schemas.microsoft.com/office/drawing/2014/main" id="{A407FAD8-7EAC-6E5E-2140-84A41FB60396}"/>
              </a:ext>
            </a:extLst>
          </p:cNvPr>
          <p:cNvPicPr>
            <a:picLocks noChangeAspect="1"/>
          </p:cNvPicPr>
          <p:nvPr/>
        </p:nvPicPr>
        <p:blipFill>
          <a:blip r:embed="rId5"/>
          <a:stretch>
            <a:fillRect/>
          </a:stretch>
        </p:blipFill>
        <p:spPr>
          <a:xfrm>
            <a:off x="4434609" y="1935956"/>
            <a:ext cx="7681190" cy="2966393"/>
          </a:xfrm>
          <a:prstGeom prst="rect">
            <a:avLst/>
          </a:prstGeom>
        </p:spPr>
      </p:pic>
    </p:spTree>
    <p:extLst>
      <p:ext uri="{BB962C8B-B14F-4D97-AF65-F5344CB8AC3E}">
        <p14:creationId xmlns:p14="http://schemas.microsoft.com/office/powerpoint/2010/main" val="261771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diagram&#10;&#10;AI-generated content may be incorrect.">
            <a:extLst>
              <a:ext uri="{FF2B5EF4-FFF2-40B4-BE49-F238E27FC236}">
                <a16:creationId xmlns:a16="http://schemas.microsoft.com/office/drawing/2014/main" id="{A9373C44-426A-DF52-1535-7D0B7EED0127}"/>
              </a:ext>
            </a:extLst>
          </p:cNvPr>
          <p:cNvPicPr>
            <a:picLocks noGrp="1" noChangeAspect="1"/>
          </p:cNvPicPr>
          <p:nvPr>
            <p:ph idx="1"/>
          </p:nvPr>
        </p:nvPicPr>
        <p:blipFill>
          <a:blip r:embed="rId3"/>
          <a:stretch>
            <a:fillRect/>
          </a:stretch>
        </p:blipFill>
        <p:spPr>
          <a:xfrm>
            <a:off x="669828" y="1687080"/>
            <a:ext cx="4174454" cy="4351338"/>
          </a:xfrm>
          <a:prstGeom prst="rect">
            <a:avLst/>
          </a:prstGeom>
        </p:spPr>
      </p:pic>
      <p:pic>
        <p:nvPicPr>
          <p:cNvPr id="6" name="Picture 5" descr="A graph with blue dots&#10;&#10;AI-generated content may be incorrect.">
            <a:extLst>
              <a:ext uri="{FF2B5EF4-FFF2-40B4-BE49-F238E27FC236}">
                <a16:creationId xmlns:a16="http://schemas.microsoft.com/office/drawing/2014/main" id="{E7D8858E-63F9-86C5-6E93-FBE830406F4E}"/>
              </a:ext>
            </a:extLst>
          </p:cNvPr>
          <p:cNvPicPr>
            <a:picLocks noChangeAspect="1"/>
          </p:cNvPicPr>
          <p:nvPr/>
        </p:nvPicPr>
        <p:blipFill>
          <a:blip r:embed="rId4"/>
          <a:stretch>
            <a:fillRect/>
          </a:stretch>
        </p:blipFill>
        <p:spPr>
          <a:xfrm>
            <a:off x="4999374" y="991298"/>
            <a:ext cx="6980889" cy="4875404"/>
          </a:xfrm>
          <a:prstGeom prst="rect">
            <a:avLst/>
          </a:prstGeom>
        </p:spPr>
      </p:pic>
      <p:pic>
        <p:nvPicPr>
          <p:cNvPr id="8" name="Picture 7">
            <a:extLst>
              <a:ext uri="{FF2B5EF4-FFF2-40B4-BE49-F238E27FC236}">
                <a16:creationId xmlns:a16="http://schemas.microsoft.com/office/drawing/2014/main" id="{0DC0447C-C368-C3FF-1173-394687DD3167}"/>
              </a:ext>
            </a:extLst>
          </p:cNvPr>
          <p:cNvPicPr>
            <a:picLocks noChangeAspect="1"/>
          </p:cNvPicPr>
          <p:nvPr/>
        </p:nvPicPr>
        <p:blipFill>
          <a:blip r:embed="rId5"/>
          <a:stretch>
            <a:fillRect/>
          </a:stretch>
        </p:blipFill>
        <p:spPr>
          <a:xfrm>
            <a:off x="4085937" y="4136738"/>
            <a:ext cx="7772400" cy="385038"/>
          </a:xfrm>
          <a:prstGeom prst="rect">
            <a:avLst/>
          </a:prstGeom>
        </p:spPr>
      </p:pic>
      <p:pic>
        <p:nvPicPr>
          <p:cNvPr id="10" name="Picture 9">
            <a:extLst>
              <a:ext uri="{FF2B5EF4-FFF2-40B4-BE49-F238E27FC236}">
                <a16:creationId xmlns:a16="http://schemas.microsoft.com/office/drawing/2014/main" id="{671D5068-42E2-2514-34D8-CE7F70C709BE}"/>
              </a:ext>
            </a:extLst>
          </p:cNvPr>
          <p:cNvPicPr>
            <a:picLocks noChangeAspect="1"/>
          </p:cNvPicPr>
          <p:nvPr/>
        </p:nvPicPr>
        <p:blipFill>
          <a:blip r:embed="rId6"/>
          <a:stretch>
            <a:fillRect/>
          </a:stretch>
        </p:blipFill>
        <p:spPr>
          <a:xfrm>
            <a:off x="3857275" y="1980913"/>
            <a:ext cx="6980889" cy="462822"/>
          </a:xfrm>
          <a:prstGeom prst="rect">
            <a:avLst/>
          </a:prstGeom>
        </p:spPr>
      </p:pic>
      <p:cxnSp>
        <p:nvCxnSpPr>
          <p:cNvPr id="12" name="Straight Arrow Connector 11">
            <a:extLst>
              <a:ext uri="{FF2B5EF4-FFF2-40B4-BE49-F238E27FC236}">
                <a16:creationId xmlns:a16="http://schemas.microsoft.com/office/drawing/2014/main" id="{BC9C4FD9-3B4F-79A3-36E9-E433E175E21A}"/>
              </a:ext>
            </a:extLst>
          </p:cNvPr>
          <p:cNvCxnSpPr/>
          <p:nvPr/>
        </p:nvCxnSpPr>
        <p:spPr>
          <a:xfrm>
            <a:off x="7972137" y="2514600"/>
            <a:ext cx="517681" cy="68580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2B7445A8-B7D0-1787-DAC7-8505239E8CFA}"/>
              </a:ext>
            </a:extLst>
          </p:cNvPr>
          <p:cNvCxnSpPr/>
          <p:nvPr/>
        </p:nvCxnSpPr>
        <p:spPr>
          <a:xfrm flipV="1">
            <a:off x="8780318" y="3429000"/>
            <a:ext cx="0" cy="59228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820756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86725-1892-6085-4EA5-7E7E45EF58ED}"/>
              </a:ext>
            </a:extLst>
          </p:cNvPr>
          <p:cNvPicPr>
            <a:picLocks noChangeAspect="1"/>
          </p:cNvPicPr>
          <p:nvPr/>
        </p:nvPicPr>
        <p:blipFill>
          <a:blip r:embed="rId3"/>
          <a:srcRect l="2496" t="5092" b="-1"/>
          <a:stretch>
            <a:fillRect/>
          </a:stretch>
        </p:blipFill>
        <p:spPr>
          <a:xfrm>
            <a:off x="968188" y="2032760"/>
            <a:ext cx="11099122" cy="4792127"/>
          </a:xfrm>
          <a:prstGeom prst="rect">
            <a:avLst/>
          </a:prstGeom>
        </p:spPr>
      </p:pic>
      <p:sp>
        <p:nvSpPr>
          <p:cNvPr id="7" name="TextBox 6">
            <a:extLst>
              <a:ext uri="{FF2B5EF4-FFF2-40B4-BE49-F238E27FC236}">
                <a16:creationId xmlns:a16="http://schemas.microsoft.com/office/drawing/2014/main" id="{D69501FA-F810-EE92-E6FB-1CFE608E97B8}"/>
              </a:ext>
            </a:extLst>
          </p:cNvPr>
          <p:cNvSpPr txBox="1"/>
          <p:nvPr/>
        </p:nvSpPr>
        <p:spPr>
          <a:xfrm>
            <a:off x="376670" y="549671"/>
            <a:ext cx="6094268" cy="646331"/>
          </a:xfrm>
          <a:prstGeom prst="rect">
            <a:avLst/>
          </a:prstGeom>
          <a:noFill/>
        </p:spPr>
        <p:txBody>
          <a:bodyPr wrap="square">
            <a:spAutoFit/>
          </a:bodyPr>
          <a:lstStyle/>
          <a:p>
            <a:r>
              <a:rPr lang="en-US" b="0" i="0" dirty="0">
                <a:solidFill>
                  <a:srgbClr val="0A0A0A"/>
                </a:solidFill>
                <a:effectLst/>
                <a:latin typeface="Google Sans"/>
              </a:rPr>
              <a:t>DBSCAN (</a:t>
            </a:r>
            <a:r>
              <a:rPr lang="en-US" dirty="0"/>
              <a:t>Density-Based Spatial Clustering of Applications with Noise</a:t>
            </a:r>
            <a:r>
              <a:rPr lang="en-US" b="0" i="0" dirty="0">
                <a:solidFill>
                  <a:srgbClr val="0A0A0A"/>
                </a:solidFill>
                <a:effectLst/>
                <a:latin typeface="Google Sans"/>
              </a:rPr>
              <a:t>) </a:t>
            </a:r>
            <a:endParaRPr lang="en-US" dirty="0"/>
          </a:p>
        </p:txBody>
      </p:sp>
      <p:graphicFrame>
        <p:nvGraphicFramePr>
          <p:cNvPr id="9" name="Table 8">
            <a:extLst>
              <a:ext uri="{FF2B5EF4-FFF2-40B4-BE49-F238E27FC236}">
                <a16:creationId xmlns:a16="http://schemas.microsoft.com/office/drawing/2014/main" id="{4FF4EB8E-559B-847A-6E6C-FDBADB407EF9}"/>
              </a:ext>
            </a:extLst>
          </p:cNvPr>
          <p:cNvGraphicFramePr>
            <a:graphicFrameLocks noGrp="1"/>
          </p:cNvGraphicFramePr>
          <p:nvPr>
            <p:extLst>
              <p:ext uri="{D42A27DB-BD31-4B8C-83A1-F6EECF244321}">
                <p14:modId xmlns:p14="http://schemas.microsoft.com/office/powerpoint/2010/main" val="3494541783"/>
              </p:ext>
            </p:extLst>
          </p:nvPr>
        </p:nvGraphicFramePr>
        <p:xfrm>
          <a:off x="376670" y="1431501"/>
          <a:ext cx="10515600" cy="365760"/>
        </p:xfrm>
        <a:graphic>
          <a:graphicData uri="http://schemas.openxmlformats.org/drawingml/2006/table">
            <a:tbl>
              <a:tblPr/>
              <a:tblGrid>
                <a:gridCol w="10515600">
                  <a:extLst>
                    <a:ext uri="{9D8B030D-6E8A-4147-A177-3AD203B41FA5}">
                      <a16:colId xmlns:a16="http://schemas.microsoft.com/office/drawing/2014/main" val="457904992"/>
                    </a:ext>
                  </a:extLst>
                </a:gridCol>
              </a:tblGrid>
              <a:tr h="0">
                <a:tc>
                  <a:txBody>
                    <a:bodyPr/>
                    <a:lstStyle/>
                    <a:p>
                      <a:pPr marL="285750" indent="-285750">
                        <a:buFont typeface="Arial" panose="020B0604020202020204" pitchFamily="34" charset="0"/>
                        <a:buChar char="•"/>
                      </a:pPr>
                      <a:r>
                        <a:rPr lang="en-US" dirty="0"/>
                        <a:t>Finds dense regions separated by low density</a:t>
                      </a:r>
                    </a:p>
                  </a:txBody>
                  <a:tcPr anchor="ctr">
                    <a:lnL>
                      <a:noFill/>
                    </a:lnL>
                    <a:lnR>
                      <a:noFill/>
                    </a:lnR>
                    <a:lnT>
                      <a:noFill/>
                    </a:lnT>
                    <a:lnB>
                      <a:noFill/>
                    </a:lnB>
                    <a:noFill/>
                  </a:tcPr>
                </a:tc>
                <a:extLst>
                  <a:ext uri="{0D108BD9-81ED-4DB2-BD59-A6C34878D82A}">
                    <a16:rowId xmlns:a16="http://schemas.microsoft.com/office/drawing/2014/main" val="202952434"/>
                  </a:ext>
                </a:extLst>
              </a:tr>
            </a:tbl>
          </a:graphicData>
        </a:graphic>
      </p:graphicFrame>
    </p:spTree>
    <p:extLst>
      <p:ext uri="{BB962C8B-B14F-4D97-AF65-F5344CB8AC3E}">
        <p14:creationId xmlns:p14="http://schemas.microsoft.com/office/powerpoint/2010/main" val="62666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ED5F-B8B6-226C-5A89-68BD4E9E2E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424842-99A7-E1BB-4AE6-D5F464B8A840}"/>
              </a:ext>
            </a:extLst>
          </p:cNvPr>
          <p:cNvPicPr>
            <a:picLocks noChangeAspect="1"/>
          </p:cNvPicPr>
          <p:nvPr/>
        </p:nvPicPr>
        <p:blipFill>
          <a:blip r:embed="rId3"/>
          <a:srcRect l="2496" t="5092" b="-1"/>
          <a:stretch>
            <a:fillRect/>
          </a:stretch>
        </p:blipFill>
        <p:spPr>
          <a:xfrm>
            <a:off x="941294" y="2032760"/>
            <a:ext cx="11126015" cy="4803737"/>
          </a:xfrm>
          <a:prstGeom prst="rect">
            <a:avLst/>
          </a:prstGeom>
        </p:spPr>
      </p:pic>
      <p:sp>
        <p:nvSpPr>
          <p:cNvPr id="7" name="TextBox 6">
            <a:extLst>
              <a:ext uri="{FF2B5EF4-FFF2-40B4-BE49-F238E27FC236}">
                <a16:creationId xmlns:a16="http://schemas.microsoft.com/office/drawing/2014/main" id="{FE1E38E3-8E83-BD67-A86E-E8D14AB04B68}"/>
              </a:ext>
            </a:extLst>
          </p:cNvPr>
          <p:cNvSpPr txBox="1"/>
          <p:nvPr/>
        </p:nvSpPr>
        <p:spPr>
          <a:xfrm>
            <a:off x="376670" y="549671"/>
            <a:ext cx="6094268" cy="646331"/>
          </a:xfrm>
          <a:prstGeom prst="rect">
            <a:avLst/>
          </a:prstGeom>
          <a:noFill/>
        </p:spPr>
        <p:txBody>
          <a:bodyPr wrap="square">
            <a:spAutoFit/>
          </a:bodyPr>
          <a:lstStyle/>
          <a:p>
            <a:r>
              <a:rPr lang="en-US" b="0" i="0" dirty="0">
                <a:solidFill>
                  <a:srgbClr val="0A0A0A"/>
                </a:solidFill>
                <a:effectLst/>
                <a:latin typeface="Google Sans"/>
              </a:rPr>
              <a:t>DBSCAN (</a:t>
            </a:r>
            <a:r>
              <a:rPr lang="en-US" dirty="0"/>
              <a:t>Density-Based Spatial Clustering of Applications with Noise</a:t>
            </a:r>
            <a:r>
              <a:rPr lang="en-US" b="0" i="0" dirty="0">
                <a:solidFill>
                  <a:srgbClr val="0A0A0A"/>
                </a:solidFill>
                <a:effectLst/>
                <a:latin typeface="Google Sans"/>
              </a:rPr>
              <a:t>) </a:t>
            </a:r>
            <a:endParaRPr lang="en-US" dirty="0"/>
          </a:p>
        </p:txBody>
      </p:sp>
      <p:graphicFrame>
        <p:nvGraphicFramePr>
          <p:cNvPr id="9" name="Table 8">
            <a:extLst>
              <a:ext uri="{FF2B5EF4-FFF2-40B4-BE49-F238E27FC236}">
                <a16:creationId xmlns:a16="http://schemas.microsoft.com/office/drawing/2014/main" id="{B6AEC511-901D-740A-D4E5-B33AC67A7DA8}"/>
              </a:ext>
            </a:extLst>
          </p:cNvPr>
          <p:cNvGraphicFramePr>
            <a:graphicFrameLocks noGrp="1"/>
          </p:cNvGraphicFramePr>
          <p:nvPr/>
        </p:nvGraphicFramePr>
        <p:xfrm>
          <a:off x="376670" y="1431501"/>
          <a:ext cx="10515600" cy="365760"/>
        </p:xfrm>
        <a:graphic>
          <a:graphicData uri="http://schemas.openxmlformats.org/drawingml/2006/table">
            <a:tbl>
              <a:tblPr/>
              <a:tblGrid>
                <a:gridCol w="10515600">
                  <a:extLst>
                    <a:ext uri="{9D8B030D-6E8A-4147-A177-3AD203B41FA5}">
                      <a16:colId xmlns:a16="http://schemas.microsoft.com/office/drawing/2014/main" val="457904992"/>
                    </a:ext>
                  </a:extLst>
                </a:gridCol>
              </a:tblGrid>
              <a:tr h="0">
                <a:tc>
                  <a:txBody>
                    <a:bodyPr/>
                    <a:lstStyle/>
                    <a:p>
                      <a:pPr marL="285750" indent="-285750">
                        <a:buFont typeface="Arial" panose="020B0604020202020204" pitchFamily="34" charset="0"/>
                        <a:buChar char="•"/>
                      </a:pPr>
                      <a:r>
                        <a:rPr lang="en-US" dirty="0"/>
                        <a:t>Finds dense regions separated by low density</a:t>
                      </a:r>
                    </a:p>
                  </a:txBody>
                  <a:tcPr anchor="ctr">
                    <a:lnL>
                      <a:noFill/>
                    </a:lnL>
                    <a:lnR>
                      <a:noFill/>
                    </a:lnR>
                    <a:lnT>
                      <a:noFill/>
                    </a:lnT>
                    <a:lnB>
                      <a:noFill/>
                    </a:lnB>
                    <a:noFill/>
                  </a:tcPr>
                </a:tc>
                <a:extLst>
                  <a:ext uri="{0D108BD9-81ED-4DB2-BD59-A6C34878D82A}">
                    <a16:rowId xmlns:a16="http://schemas.microsoft.com/office/drawing/2014/main" val="202952434"/>
                  </a:ext>
                </a:extLst>
              </a:tr>
            </a:tbl>
          </a:graphicData>
        </a:graphic>
      </p:graphicFrame>
      <p:sp>
        <p:nvSpPr>
          <p:cNvPr id="3" name="Double Bracket 2">
            <a:extLst>
              <a:ext uri="{FF2B5EF4-FFF2-40B4-BE49-F238E27FC236}">
                <a16:creationId xmlns:a16="http://schemas.microsoft.com/office/drawing/2014/main" id="{48B1C03B-2205-75BC-E5CF-883BA89B7E10}"/>
              </a:ext>
            </a:extLst>
          </p:cNvPr>
          <p:cNvSpPr/>
          <p:nvPr/>
        </p:nvSpPr>
        <p:spPr>
          <a:xfrm>
            <a:off x="6504300" y="4104422"/>
            <a:ext cx="2922087" cy="1177067"/>
          </a:xfrm>
          <a:prstGeom prst="bracketPair">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7855DBD-55EC-C128-ED55-B1552C435459}"/>
              </a:ext>
            </a:extLst>
          </p:cNvPr>
          <p:cNvCxnSpPr>
            <a:cxnSpLocks/>
          </p:cNvCxnSpPr>
          <p:nvPr/>
        </p:nvCxnSpPr>
        <p:spPr>
          <a:xfrm flipV="1">
            <a:off x="7772400" y="5281489"/>
            <a:ext cx="268941" cy="59283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72EDF0E-F15D-1FC4-C887-BBDFD197A486}"/>
              </a:ext>
            </a:extLst>
          </p:cNvPr>
          <p:cNvSpPr txBox="1"/>
          <p:nvPr/>
        </p:nvSpPr>
        <p:spPr>
          <a:xfrm>
            <a:off x="7906870" y="5616211"/>
            <a:ext cx="2057999" cy="369332"/>
          </a:xfrm>
          <a:prstGeom prst="rect">
            <a:avLst/>
          </a:prstGeom>
          <a:noFill/>
        </p:spPr>
        <p:txBody>
          <a:bodyPr wrap="none" rtlCol="0">
            <a:spAutoFit/>
          </a:bodyPr>
          <a:lstStyle/>
          <a:p>
            <a:r>
              <a:rPr lang="en-US" dirty="0"/>
              <a:t>Overlap of clusters</a:t>
            </a:r>
          </a:p>
        </p:txBody>
      </p:sp>
    </p:spTree>
    <p:extLst>
      <p:ext uri="{BB962C8B-B14F-4D97-AF65-F5344CB8AC3E}">
        <p14:creationId xmlns:p14="http://schemas.microsoft.com/office/powerpoint/2010/main" val="1353035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1ACA6-8CBC-3865-9B3B-FD26B85F5EDA}"/>
              </a:ext>
            </a:extLst>
          </p:cNvPr>
          <p:cNvSpPr>
            <a:spLocks noGrp="1"/>
          </p:cNvSpPr>
          <p:nvPr>
            <p:ph type="title"/>
          </p:nvPr>
        </p:nvSpPr>
        <p:spPr/>
        <p:txBody>
          <a:bodyPr/>
          <a:lstStyle/>
          <a:p>
            <a:endParaRPr lang="en-US"/>
          </a:p>
        </p:txBody>
      </p:sp>
      <p:pic>
        <p:nvPicPr>
          <p:cNvPr id="5" name="Content Placeholder 4" descr="A close-up of a brick wall&#10;&#10;AI-generated content may be incorrect.">
            <a:extLst>
              <a:ext uri="{FF2B5EF4-FFF2-40B4-BE49-F238E27FC236}">
                <a16:creationId xmlns:a16="http://schemas.microsoft.com/office/drawing/2014/main" id="{61C41746-0C76-0E9B-7851-293C09E6C28F}"/>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0" y="0"/>
            <a:ext cx="12302836" cy="7996844"/>
          </a:xfrm>
        </p:spPr>
      </p:pic>
    </p:spTree>
    <p:extLst>
      <p:ext uri="{BB962C8B-B14F-4D97-AF65-F5344CB8AC3E}">
        <p14:creationId xmlns:p14="http://schemas.microsoft.com/office/powerpoint/2010/main" val="413808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5E2E8-7438-92B1-F32E-1BD2ABC03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4840A-E151-FD61-A9C9-5B053C238984}"/>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dirty="0"/>
              <a:t>Summarize articles</a:t>
            </a:r>
          </a:p>
        </p:txBody>
      </p:sp>
      <p:pic>
        <p:nvPicPr>
          <p:cNvPr id="7" name="Picture 6" descr="A screenshot of a computer&#10;&#10;AI-generated content may be incorrect.">
            <a:extLst>
              <a:ext uri="{FF2B5EF4-FFF2-40B4-BE49-F238E27FC236}">
                <a16:creationId xmlns:a16="http://schemas.microsoft.com/office/drawing/2014/main" id="{FB4E23F6-98D2-167E-2BF8-5659CE57FCD8}"/>
              </a:ext>
            </a:extLst>
          </p:cNvPr>
          <p:cNvPicPr>
            <a:picLocks noChangeAspect="1"/>
          </p:cNvPicPr>
          <p:nvPr/>
        </p:nvPicPr>
        <p:blipFill>
          <a:blip r:embed="rId3"/>
          <a:stretch>
            <a:fillRect/>
          </a:stretch>
        </p:blipFill>
        <p:spPr>
          <a:xfrm>
            <a:off x="5264883" y="0"/>
            <a:ext cx="6691433" cy="3328988"/>
          </a:xfrm>
          <a:prstGeom prst="rect">
            <a:avLst/>
          </a:prstGeom>
        </p:spPr>
      </p:pic>
      <p:pic>
        <p:nvPicPr>
          <p:cNvPr id="4" name="Picture 3" descr="A diagram of a train&#10;&#10;AI-generated content may be incorrect.">
            <a:extLst>
              <a:ext uri="{FF2B5EF4-FFF2-40B4-BE49-F238E27FC236}">
                <a16:creationId xmlns:a16="http://schemas.microsoft.com/office/drawing/2014/main" id="{B0B5C45D-EB44-B252-3C3F-E8CED8CB82CC}"/>
              </a:ext>
            </a:extLst>
          </p:cNvPr>
          <p:cNvPicPr>
            <a:picLocks noChangeAspect="1"/>
          </p:cNvPicPr>
          <p:nvPr/>
        </p:nvPicPr>
        <p:blipFill>
          <a:blip r:embed="rId4"/>
          <a:stretch>
            <a:fillRect/>
          </a:stretch>
        </p:blipFill>
        <p:spPr>
          <a:xfrm>
            <a:off x="2181739" y="3429000"/>
            <a:ext cx="7828522" cy="2974838"/>
          </a:xfrm>
          <a:prstGeom prst="rect">
            <a:avLst/>
          </a:prstGeom>
        </p:spPr>
      </p:pic>
      <p:sp>
        <p:nvSpPr>
          <p:cNvPr id="9" name="TextBox 8">
            <a:extLst>
              <a:ext uri="{FF2B5EF4-FFF2-40B4-BE49-F238E27FC236}">
                <a16:creationId xmlns:a16="http://schemas.microsoft.com/office/drawing/2014/main" id="{139B1B6C-978A-09E6-6E10-140F82A1D091}"/>
              </a:ext>
            </a:extLst>
          </p:cNvPr>
          <p:cNvSpPr txBox="1"/>
          <p:nvPr/>
        </p:nvSpPr>
        <p:spPr>
          <a:xfrm>
            <a:off x="101325" y="6488668"/>
            <a:ext cx="6100996" cy="369332"/>
          </a:xfrm>
          <a:prstGeom prst="rect">
            <a:avLst/>
          </a:prstGeom>
          <a:noFill/>
        </p:spPr>
        <p:txBody>
          <a:bodyPr wrap="square">
            <a:spAutoFit/>
          </a:bodyPr>
          <a:lstStyle/>
          <a:p>
            <a:r>
              <a:rPr lang="en-US" dirty="0"/>
              <a:t>https://</a:t>
            </a:r>
            <a:r>
              <a:rPr lang="en-US" dirty="0" err="1"/>
              <a:t>pypi.org</a:t>
            </a:r>
            <a:r>
              <a:rPr lang="en-US" dirty="0"/>
              <a:t>/project/</a:t>
            </a:r>
            <a:r>
              <a:rPr lang="en-US" dirty="0" err="1"/>
              <a:t>stanford-openie</a:t>
            </a:r>
            <a:r>
              <a:rPr lang="en-US" dirty="0"/>
              <a:t>/</a:t>
            </a:r>
          </a:p>
        </p:txBody>
      </p:sp>
      <p:sp>
        <p:nvSpPr>
          <p:cNvPr id="3" name="&quot;No&quot; Symbol 2">
            <a:extLst>
              <a:ext uri="{FF2B5EF4-FFF2-40B4-BE49-F238E27FC236}">
                <a16:creationId xmlns:a16="http://schemas.microsoft.com/office/drawing/2014/main" id="{E9220C06-ED31-2092-5E8E-AEA0ABCCB052}"/>
              </a:ext>
            </a:extLst>
          </p:cNvPr>
          <p:cNvSpPr/>
          <p:nvPr/>
        </p:nvSpPr>
        <p:spPr>
          <a:xfrm>
            <a:off x="7003334" y="103621"/>
            <a:ext cx="3214530" cy="3225367"/>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1417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1CF5B-E42D-8D44-9EB7-F7589EB53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06022-A5BA-1FCF-6D4B-0F6770EFABBB}"/>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dirty="0"/>
              <a:t>Summarize titles</a:t>
            </a:r>
          </a:p>
        </p:txBody>
      </p:sp>
      <p:pic>
        <p:nvPicPr>
          <p:cNvPr id="4" name="Picture 3" descr="A diagram of a train&#10;&#10;AI-generated content may be incorrect.">
            <a:extLst>
              <a:ext uri="{FF2B5EF4-FFF2-40B4-BE49-F238E27FC236}">
                <a16:creationId xmlns:a16="http://schemas.microsoft.com/office/drawing/2014/main" id="{F8C2A5AC-8641-E3FC-F59A-96E7D90A07B0}"/>
              </a:ext>
            </a:extLst>
          </p:cNvPr>
          <p:cNvPicPr>
            <a:picLocks noChangeAspect="1"/>
          </p:cNvPicPr>
          <p:nvPr/>
        </p:nvPicPr>
        <p:blipFill>
          <a:blip r:embed="rId3"/>
          <a:stretch>
            <a:fillRect/>
          </a:stretch>
        </p:blipFill>
        <p:spPr>
          <a:xfrm>
            <a:off x="5354430" y="0"/>
            <a:ext cx="6837570" cy="2598276"/>
          </a:xfrm>
          <a:prstGeom prst="rect">
            <a:avLst/>
          </a:prstGeom>
        </p:spPr>
      </p:pic>
      <p:sp>
        <p:nvSpPr>
          <p:cNvPr id="9" name="TextBox 8">
            <a:extLst>
              <a:ext uri="{FF2B5EF4-FFF2-40B4-BE49-F238E27FC236}">
                <a16:creationId xmlns:a16="http://schemas.microsoft.com/office/drawing/2014/main" id="{F1911F26-6C23-20B6-A889-B51150264810}"/>
              </a:ext>
            </a:extLst>
          </p:cNvPr>
          <p:cNvSpPr txBox="1"/>
          <p:nvPr/>
        </p:nvSpPr>
        <p:spPr>
          <a:xfrm>
            <a:off x="101325" y="6488668"/>
            <a:ext cx="6100996" cy="369332"/>
          </a:xfrm>
          <a:prstGeom prst="rect">
            <a:avLst/>
          </a:prstGeom>
          <a:noFill/>
        </p:spPr>
        <p:txBody>
          <a:bodyPr wrap="square">
            <a:spAutoFit/>
          </a:bodyPr>
          <a:lstStyle/>
          <a:p>
            <a:r>
              <a:rPr lang="en-US" dirty="0"/>
              <a:t>https://</a:t>
            </a:r>
            <a:r>
              <a:rPr lang="en-US" dirty="0" err="1"/>
              <a:t>pypi.org</a:t>
            </a:r>
            <a:r>
              <a:rPr lang="en-US" dirty="0"/>
              <a:t>/project/</a:t>
            </a:r>
            <a:r>
              <a:rPr lang="en-US" dirty="0" err="1"/>
              <a:t>stanford-openie</a:t>
            </a:r>
            <a:r>
              <a:rPr lang="en-US" dirty="0"/>
              <a:t>/</a:t>
            </a:r>
          </a:p>
        </p:txBody>
      </p:sp>
      <p:pic>
        <p:nvPicPr>
          <p:cNvPr id="6" name="Picture 5" descr="A screenshot of a computer&#10;&#10;AI-generated content may be incorrect.">
            <a:extLst>
              <a:ext uri="{FF2B5EF4-FFF2-40B4-BE49-F238E27FC236}">
                <a16:creationId xmlns:a16="http://schemas.microsoft.com/office/drawing/2014/main" id="{CC0ABB23-01A8-508A-CB6C-3AA0F8300A1A}"/>
              </a:ext>
            </a:extLst>
          </p:cNvPr>
          <p:cNvPicPr>
            <a:picLocks noChangeAspect="1"/>
          </p:cNvPicPr>
          <p:nvPr/>
        </p:nvPicPr>
        <p:blipFill>
          <a:blip r:embed="rId4"/>
          <a:stretch>
            <a:fillRect/>
          </a:stretch>
        </p:blipFill>
        <p:spPr>
          <a:xfrm>
            <a:off x="2209800" y="2715215"/>
            <a:ext cx="7772400" cy="3658763"/>
          </a:xfrm>
          <a:prstGeom prst="rect">
            <a:avLst/>
          </a:prstGeom>
        </p:spPr>
      </p:pic>
    </p:spTree>
    <p:extLst>
      <p:ext uri="{BB962C8B-B14F-4D97-AF65-F5344CB8AC3E}">
        <p14:creationId xmlns:p14="http://schemas.microsoft.com/office/powerpoint/2010/main" val="1658256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94889-D767-D945-567D-24E3175AD9ED}"/>
            </a:ext>
          </a:extLst>
        </p:cNvPr>
        <p:cNvGrpSpPr/>
        <p:nvPr/>
      </p:nvGrpSpPr>
      <p:grpSpPr>
        <a:xfrm>
          <a:off x="0" y="0"/>
          <a:ext cx="0" cy="0"/>
          <a:chOff x="0" y="0"/>
          <a:chExt cx="0" cy="0"/>
        </a:xfrm>
      </p:grpSpPr>
      <p:pic>
        <p:nvPicPr>
          <p:cNvPr id="5" name="Content Placeholder 4" descr="A screenshot of a computer program&#10;&#10;AI-generated content may be incorrect.">
            <a:extLst>
              <a:ext uri="{FF2B5EF4-FFF2-40B4-BE49-F238E27FC236}">
                <a16:creationId xmlns:a16="http://schemas.microsoft.com/office/drawing/2014/main" id="{51AA0309-92AD-6B70-D3EE-194A853D43EE}"/>
              </a:ext>
            </a:extLst>
          </p:cNvPr>
          <p:cNvPicPr>
            <a:picLocks noGrp="1" noChangeAspect="1"/>
          </p:cNvPicPr>
          <p:nvPr>
            <p:ph idx="1"/>
          </p:nvPr>
        </p:nvPicPr>
        <p:blipFill>
          <a:blip r:embed="rId3"/>
          <a:stretch>
            <a:fillRect/>
          </a:stretch>
        </p:blipFill>
        <p:spPr>
          <a:xfrm>
            <a:off x="149902" y="2037367"/>
            <a:ext cx="6285266" cy="4351338"/>
          </a:xfrm>
        </p:spPr>
      </p:pic>
      <p:pic>
        <p:nvPicPr>
          <p:cNvPr id="7" name="Picture 6" descr="A logo of a molecule&#10;&#10;AI-generated content may be incorrect.">
            <a:extLst>
              <a:ext uri="{FF2B5EF4-FFF2-40B4-BE49-F238E27FC236}">
                <a16:creationId xmlns:a16="http://schemas.microsoft.com/office/drawing/2014/main" id="{74DFF5CA-C709-4C0A-3BB7-2F420BFD45A1}"/>
              </a:ext>
            </a:extLst>
          </p:cNvPr>
          <p:cNvPicPr>
            <a:picLocks noChangeAspect="1"/>
          </p:cNvPicPr>
          <p:nvPr/>
        </p:nvPicPr>
        <p:blipFill>
          <a:blip r:embed="rId4"/>
          <a:stretch>
            <a:fillRect/>
          </a:stretch>
        </p:blipFill>
        <p:spPr>
          <a:xfrm>
            <a:off x="149902" y="119856"/>
            <a:ext cx="3441700" cy="1816100"/>
          </a:xfrm>
          <a:prstGeom prst="rect">
            <a:avLst/>
          </a:prstGeom>
        </p:spPr>
      </p:pic>
      <p:pic>
        <p:nvPicPr>
          <p:cNvPr id="3" name="Picture 2" descr="A screenshot of a black screen&#10;&#10;AI-generated content may be incorrect.">
            <a:extLst>
              <a:ext uri="{FF2B5EF4-FFF2-40B4-BE49-F238E27FC236}">
                <a16:creationId xmlns:a16="http://schemas.microsoft.com/office/drawing/2014/main" id="{E7717CFB-5EC4-B396-6E98-8BD07989730D}"/>
              </a:ext>
            </a:extLst>
          </p:cNvPr>
          <p:cNvPicPr>
            <a:picLocks noChangeAspect="1"/>
          </p:cNvPicPr>
          <p:nvPr/>
        </p:nvPicPr>
        <p:blipFill>
          <a:blip r:embed="rId5"/>
          <a:stretch>
            <a:fillRect/>
          </a:stretch>
        </p:blipFill>
        <p:spPr>
          <a:xfrm>
            <a:off x="4434609" y="1935956"/>
            <a:ext cx="7681190" cy="2966393"/>
          </a:xfrm>
          <a:prstGeom prst="rect">
            <a:avLst/>
          </a:prstGeom>
        </p:spPr>
      </p:pic>
    </p:spTree>
    <p:extLst>
      <p:ext uri="{BB962C8B-B14F-4D97-AF65-F5344CB8AC3E}">
        <p14:creationId xmlns:p14="http://schemas.microsoft.com/office/powerpoint/2010/main" val="3143873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A1DE-555F-053C-6663-651542379F6F}"/>
              </a:ext>
            </a:extLst>
          </p:cNvPr>
          <p:cNvSpPr>
            <a:spLocks noGrp="1"/>
          </p:cNvSpPr>
          <p:nvPr>
            <p:ph type="title"/>
          </p:nvPr>
        </p:nvSpPr>
        <p:spPr/>
        <p:txBody>
          <a:bodyPr/>
          <a:lstStyle/>
          <a:p>
            <a:r>
              <a:rPr lang="en-US" b="1" dirty="0"/>
              <a:t>Conflict and Mediation Event Observations</a:t>
            </a:r>
            <a:r>
              <a:rPr lang="en-US" dirty="0"/>
              <a:t> (</a:t>
            </a:r>
            <a:r>
              <a:rPr lang="en-US" b="1" dirty="0"/>
              <a:t>CAMEO</a:t>
            </a:r>
            <a:r>
              <a:rPr lang="en-US" dirty="0"/>
              <a:t>) </a:t>
            </a:r>
          </a:p>
        </p:txBody>
      </p:sp>
      <p:pic>
        <p:nvPicPr>
          <p:cNvPr id="4098" name="Picture 2" descr="Cameo event root codes, its description, and our categorization | Download  Scientific Diagram">
            <a:extLst>
              <a:ext uri="{FF2B5EF4-FFF2-40B4-BE49-F238E27FC236}">
                <a16:creationId xmlns:a16="http://schemas.microsoft.com/office/drawing/2014/main" id="{67149E27-BAD2-12B2-E20E-716AFEC460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39"/>
          <a:stretch>
            <a:fillRect/>
          </a:stretch>
        </p:blipFill>
        <p:spPr bwMode="auto">
          <a:xfrm>
            <a:off x="2635249" y="1690688"/>
            <a:ext cx="6083300" cy="23311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phone&#10;&#10;AI-generated content may be incorrect.">
            <a:extLst>
              <a:ext uri="{FF2B5EF4-FFF2-40B4-BE49-F238E27FC236}">
                <a16:creationId xmlns:a16="http://schemas.microsoft.com/office/drawing/2014/main" id="{F99BC359-1622-2C8B-5863-B9EC6D0CFEBB}"/>
              </a:ext>
            </a:extLst>
          </p:cNvPr>
          <p:cNvPicPr>
            <a:picLocks noChangeAspect="1"/>
          </p:cNvPicPr>
          <p:nvPr/>
        </p:nvPicPr>
        <p:blipFill>
          <a:blip r:embed="rId4"/>
          <a:stretch>
            <a:fillRect/>
          </a:stretch>
        </p:blipFill>
        <p:spPr>
          <a:xfrm>
            <a:off x="1689100" y="4978247"/>
            <a:ext cx="10515600" cy="1658551"/>
          </a:xfrm>
          <a:prstGeom prst="rect">
            <a:avLst/>
          </a:prstGeom>
        </p:spPr>
      </p:pic>
      <p:sp>
        <p:nvSpPr>
          <p:cNvPr id="6" name="TextBox 5">
            <a:extLst>
              <a:ext uri="{FF2B5EF4-FFF2-40B4-BE49-F238E27FC236}">
                <a16:creationId xmlns:a16="http://schemas.microsoft.com/office/drawing/2014/main" id="{900EB742-95DC-5345-4F17-C6A75DF69F0C}"/>
              </a:ext>
            </a:extLst>
          </p:cNvPr>
          <p:cNvSpPr txBox="1"/>
          <p:nvPr/>
        </p:nvSpPr>
        <p:spPr>
          <a:xfrm>
            <a:off x="355600" y="6308209"/>
            <a:ext cx="1562100" cy="369332"/>
          </a:xfrm>
          <a:prstGeom prst="rect">
            <a:avLst/>
          </a:prstGeom>
          <a:noFill/>
        </p:spPr>
        <p:txBody>
          <a:bodyPr wrap="square" rtlCol="0">
            <a:spAutoFit/>
          </a:bodyPr>
          <a:lstStyle/>
          <a:p>
            <a:r>
              <a:rPr lang="en-US" dirty="0"/>
              <a:t>Provide Aid</a:t>
            </a:r>
          </a:p>
        </p:txBody>
      </p:sp>
      <p:sp>
        <p:nvSpPr>
          <p:cNvPr id="7" name="TextBox 6">
            <a:extLst>
              <a:ext uri="{FF2B5EF4-FFF2-40B4-BE49-F238E27FC236}">
                <a16:creationId xmlns:a16="http://schemas.microsoft.com/office/drawing/2014/main" id="{97D2F125-84D8-31B7-59A4-8292AB2A310C}"/>
              </a:ext>
            </a:extLst>
          </p:cNvPr>
          <p:cNvSpPr txBox="1"/>
          <p:nvPr/>
        </p:nvSpPr>
        <p:spPr>
          <a:xfrm>
            <a:off x="698500" y="5184996"/>
            <a:ext cx="1562100" cy="369332"/>
          </a:xfrm>
          <a:prstGeom prst="rect">
            <a:avLst/>
          </a:prstGeom>
          <a:noFill/>
        </p:spPr>
        <p:txBody>
          <a:bodyPr wrap="square" rtlCol="0">
            <a:spAutoFit/>
          </a:bodyPr>
          <a:lstStyle/>
          <a:p>
            <a:r>
              <a:rPr lang="en-US" dirty="0"/>
              <a:t>Coerce</a:t>
            </a:r>
          </a:p>
        </p:txBody>
      </p:sp>
      <p:sp>
        <p:nvSpPr>
          <p:cNvPr id="8" name="TextBox 7">
            <a:extLst>
              <a:ext uri="{FF2B5EF4-FFF2-40B4-BE49-F238E27FC236}">
                <a16:creationId xmlns:a16="http://schemas.microsoft.com/office/drawing/2014/main" id="{D7BFE64A-690E-7767-A764-90A39FA3C127}"/>
              </a:ext>
            </a:extLst>
          </p:cNvPr>
          <p:cNvSpPr txBox="1"/>
          <p:nvPr/>
        </p:nvSpPr>
        <p:spPr>
          <a:xfrm>
            <a:off x="406400" y="5460685"/>
            <a:ext cx="1562100" cy="369332"/>
          </a:xfrm>
          <a:prstGeom prst="rect">
            <a:avLst/>
          </a:prstGeom>
          <a:noFill/>
        </p:spPr>
        <p:txBody>
          <a:bodyPr wrap="square" rtlCol="0">
            <a:spAutoFit/>
          </a:bodyPr>
          <a:lstStyle/>
          <a:p>
            <a:r>
              <a:rPr lang="en-US" dirty="0"/>
              <a:t>disapprove</a:t>
            </a:r>
          </a:p>
        </p:txBody>
      </p:sp>
      <p:sp>
        <p:nvSpPr>
          <p:cNvPr id="9" name="TextBox 8">
            <a:extLst>
              <a:ext uri="{FF2B5EF4-FFF2-40B4-BE49-F238E27FC236}">
                <a16:creationId xmlns:a16="http://schemas.microsoft.com/office/drawing/2014/main" id="{FFD11A21-6DA2-DD6D-AF33-B1A544D71107}"/>
              </a:ext>
            </a:extLst>
          </p:cNvPr>
          <p:cNvSpPr txBox="1"/>
          <p:nvPr/>
        </p:nvSpPr>
        <p:spPr>
          <a:xfrm>
            <a:off x="-101600" y="5736374"/>
            <a:ext cx="2787649" cy="369332"/>
          </a:xfrm>
          <a:prstGeom prst="rect">
            <a:avLst/>
          </a:prstGeom>
          <a:noFill/>
        </p:spPr>
        <p:txBody>
          <a:bodyPr wrap="square" rtlCol="0">
            <a:spAutoFit/>
          </a:bodyPr>
          <a:lstStyle/>
          <a:p>
            <a:r>
              <a:rPr lang="en-US" dirty="0"/>
              <a:t>public Statement</a:t>
            </a:r>
          </a:p>
        </p:txBody>
      </p:sp>
      <p:sp>
        <p:nvSpPr>
          <p:cNvPr id="10" name="TextBox 9">
            <a:extLst>
              <a:ext uri="{FF2B5EF4-FFF2-40B4-BE49-F238E27FC236}">
                <a16:creationId xmlns:a16="http://schemas.microsoft.com/office/drawing/2014/main" id="{FF936792-5FD8-4849-FAF6-9E325743F918}"/>
              </a:ext>
            </a:extLst>
          </p:cNvPr>
          <p:cNvSpPr txBox="1"/>
          <p:nvPr/>
        </p:nvSpPr>
        <p:spPr>
          <a:xfrm>
            <a:off x="406400" y="6001920"/>
            <a:ext cx="1562100" cy="369332"/>
          </a:xfrm>
          <a:prstGeom prst="rect">
            <a:avLst/>
          </a:prstGeom>
          <a:noFill/>
        </p:spPr>
        <p:txBody>
          <a:bodyPr wrap="square" rtlCol="0">
            <a:spAutoFit/>
          </a:bodyPr>
          <a:lstStyle/>
          <a:p>
            <a:r>
              <a:rPr lang="en-US" dirty="0"/>
              <a:t>disapprove</a:t>
            </a:r>
          </a:p>
        </p:txBody>
      </p:sp>
    </p:spTree>
    <p:extLst>
      <p:ext uri="{BB962C8B-B14F-4D97-AF65-F5344CB8AC3E}">
        <p14:creationId xmlns:p14="http://schemas.microsoft.com/office/powerpoint/2010/main" val="3871768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5FEB-80DB-D77F-CF1C-1F9C8A365740}"/>
              </a:ext>
            </a:extLst>
          </p:cNvPr>
          <p:cNvSpPr>
            <a:spLocks noGrp="1"/>
          </p:cNvSpPr>
          <p:nvPr>
            <p:ph type="title"/>
          </p:nvPr>
        </p:nvSpPr>
        <p:spPr/>
        <p:txBody>
          <a:bodyPr/>
          <a:lstStyle/>
          <a:p>
            <a:r>
              <a:rPr lang="en-US" dirty="0"/>
              <a:t>Semi-supervised</a:t>
            </a:r>
          </a:p>
        </p:txBody>
      </p:sp>
      <p:sp>
        <p:nvSpPr>
          <p:cNvPr id="3" name="Content Placeholder 2">
            <a:extLst>
              <a:ext uri="{FF2B5EF4-FFF2-40B4-BE49-F238E27FC236}">
                <a16:creationId xmlns:a16="http://schemas.microsoft.com/office/drawing/2014/main" id="{8ECEDDBD-EE57-536D-A45C-C5810FC59856}"/>
              </a:ext>
            </a:extLst>
          </p:cNvPr>
          <p:cNvSpPr>
            <a:spLocks noGrp="1"/>
          </p:cNvSpPr>
          <p:nvPr>
            <p:ph idx="1"/>
          </p:nvPr>
        </p:nvSpPr>
        <p:spPr>
          <a:xfrm>
            <a:off x="838200" y="1690688"/>
            <a:ext cx="10515600" cy="979526"/>
          </a:xfrm>
        </p:spPr>
        <p:txBody>
          <a:bodyPr/>
          <a:lstStyle/>
          <a:p>
            <a:r>
              <a:rPr lang="en-US" dirty="0"/>
              <a:t>The model learns from what it knows (labeled data) and what it can infer (unlabeled data).</a:t>
            </a:r>
          </a:p>
        </p:txBody>
      </p:sp>
      <p:sp>
        <p:nvSpPr>
          <p:cNvPr id="4" name="TextBox 3">
            <a:extLst>
              <a:ext uri="{FF2B5EF4-FFF2-40B4-BE49-F238E27FC236}">
                <a16:creationId xmlns:a16="http://schemas.microsoft.com/office/drawing/2014/main" id="{3DB09A6D-38E9-302A-768E-198FE1BDC2B3}"/>
              </a:ext>
            </a:extLst>
          </p:cNvPr>
          <p:cNvSpPr txBox="1"/>
          <p:nvPr/>
        </p:nvSpPr>
        <p:spPr>
          <a:xfrm>
            <a:off x="1060450" y="2948582"/>
            <a:ext cx="2946400" cy="369332"/>
          </a:xfrm>
          <a:prstGeom prst="rect">
            <a:avLst/>
          </a:prstGeom>
          <a:noFill/>
        </p:spPr>
        <p:txBody>
          <a:bodyPr wrap="square" rtlCol="0">
            <a:spAutoFit/>
          </a:bodyPr>
          <a:lstStyle/>
          <a:p>
            <a:r>
              <a:rPr lang="en-US" dirty="0"/>
              <a:t>labeled data</a:t>
            </a:r>
          </a:p>
        </p:txBody>
      </p:sp>
      <p:sp>
        <p:nvSpPr>
          <p:cNvPr id="6" name="TextBox 5">
            <a:extLst>
              <a:ext uri="{FF2B5EF4-FFF2-40B4-BE49-F238E27FC236}">
                <a16:creationId xmlns:a16="http://schemas.microsoft.com/office/drawing/2014/main" id="{19D1D7C1-C3ED-6726-BA38-FE800D17DE0A}"/>
              </a:ext>
            </a:extLst>
          </p:cNvPr>
          <p:cNvSpPr txBox="1"/>
          <p:nvPr/>
        </p:nvSpPr>
        <p:spPr>
          <a:xfrm>
            <a:off x="711200" y="3317914"/>
            <a:ext cx="3295650" cy="646331"/>
          </a:xfrm>
          <a:prstGeom prst="rect">
            <a:avLst/>
          </a:prstGeom>
          <a:noFill/>
        </p:spPr>
        <p:txBody>
          <a:bodyPr wrap="square">
            <a:spAutoFit/>
          </a:bodyPr>
          <a:lstStyle/>
          <a:p>
            <a:r>
              <a:rPr lang="en-US" b="1" dirty="0"/>
              <a:t>Conflict and Mediation Event Observations</a:t>
            </a:r>
            <a:r>
              <a:rPr lang="en-US" dirty="0"/>
              <a:t> (</a:t>
            </a:r>
            <a:r>
              <a:rPr lang="en-US" b="1" dirty="0"/>
              <a:t>CAMEO</a:t>
            </a:r>
            <a:r>
              <a:rPr lang="en-US" dirty="0"/>
              <a:t>) </a:t>
            </a:r>
          </a:p>
        </p:txBody>
      </p:sp>
      <p:sp>
        <p:nvSpPr>
          <p:cNvPr id="7" name="TextBox 6">
            <a:extLst>
              <a:ext uri="{FF2B5EF4-FFF2-40B4-BE49-F238E27FC236}">
                <a16:creationId xmlns:a16="http://schemas.microsoft.com/office/drawing/2014/main" id="{4B754BB3-211A-71E5-B78F-2438430A7F14}"/>
              </a:ext>
            </a:extLst>
          </p:cNvPr>
          <p:cNvSpPr txBox="1"/>
          <p:nvPr/>
        </p:nvSpPr>
        <p:spPr>
          <a:xfrm>
            <a:off x="7480300" y="2948582"/>
            <a:ext cx="1680525" cy="369332"/>
          </a:xfrm>
          <a:prstGeom prst="rect">
            <a:avLst/>
          </a:prstGeom>
          <a:noFill/>
        </p:spPr>
        <p:txBody>
          <a:bodyPr wrap="none" rtlCol="0">
            <a:spAutoFit/>
          </a:bodyPr>
          <a:lstStyle/>
          <a:p>
            <a:r>
              <a:rPr lang="en-US" dirty="0"/>
              <a:t>unlabeled data</a:t>
            </a:r>
          </a:p>
        </p:txBody>
      </p:sp>
      <p:sp>
        <p:nvSpPr>
          <p:cNvPr id="8" name="TextBox 7">
            <a:extLst>
              <a:ext uri="{FF2B5EF4-FFF2-40B4-BE49-F238E27FC236}">
                <a16:creationId xmlns:a16="http://schemas.microsoft.com/office/drawing/2014/main" id="{3113FC55-6A5F-5E95-24E4-2DD8708C603F}"/>
              </a:ext>
            </a:extLst>
          </p:cNvPr>
          <p:cNvSpPr txBox="1"/>
          <p:nvPr/>
        </p:nvSpPr>
        <p:spPr>
          <a:xfrm>
            <a:off x="7226300" y="3429000"/>
            <a:ext cx="3581400" cy="369332"/>
          </a:xfrm>
          <a:prstGeom prst="rect">
            <a:avLst/>
          </a:prstGeom>
          <a:noFill/>
        </p:spPr>
        <p:txBody>
          <a:bodyPr wrap="square">
            <a:spAutoFit/>
          </a:bodyPr>
          <a:lstStyle/>
          <a:p>
            <a:r>
              <a:rPr lang="en-US" b="1" dirty="0" err="1"/>
              <a:t>Sbert</a:t>
            </a:r>
            <a:r>
              <a:rPr lang="en-US" b="1" dirty="0"/>
              <a:t> embedding vectors</a:t>
            </a:r>
            <a:endParaRPr lang="en-US" dirty="0"/>
          </a:p>
        </p:txBody>
      </p:sp>
      <p:pic>
        <p:nvPicPr>
          <p:cNvPr id="9" name="Picture 2" descr="Cameo event root codes, its description, and our categorization | Download  Scientific Diagram">
            <a:extLst>
              <a:ext uri="{FF2B5EF4-FFF2-40B4-BE49-F238E27FC236}">
                <a16:creationId xmlns:a16="http://schemas.microsoft.com/office/drawing/2014/main" id="{707CBA4F-654D-FAFD-233A-29AED1AD49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39"/>
          <a:stretch>
            <a:fillRect/>
          </a:stretch>
        </p:blipFill>
        <p:spPr bwMode="auto">
          <a:xfrm>
            <a:off x="544905" y="4206139"/>
            <a:ext cx="5016443" cy="1922346"/>
          </a:xfrm>
          <a:prstGeom prst="rect">
            <a:avLst/>
          </a:prstGeom>
          <a:noFill/>
          <a:extLst>
            <a:ext uri="{909E8E84-426E-40DD-AFC4-6F175D3DCCD1}">
              <a14:hiddenFill xmlns:a14="http://schemas.microsoft.com/office/drawing/2010/main">
                <a:solidFill>
                  <a:srgbClr val="FFFFFF"/>
                </a:solidFill>
              </a14:hiddenFill>
            </a:ext>
          </a:extLst>
        </p:spPr>
      </p:pic>
      <p:pic>
        <p:nvPicPr>
          <p:cNvPr id="10" name="Content Placeholder 3" descr="A diagram of a diagram&#10;&#10;AI-generated content may be incorrect.">
            <a:extLst>
              <a:ext uri="{FF2B5EF4-FFF2-40B4-BE49-F238E27FC236}">
                <a16:creationId xmlns:a16="http://schemas.microsoft.com/office/drawing/2014/main" id="{9B5FDAFA-EA25-9F7C-3B28-34F0AF98A402}"/>
              </a:ext>
            </a:extLst>
          </p:cNvPr>
          <p:cNvPicPr>
            <a:picLocks noChangeAspect="1"/>
          </p:cNvPicPr>
          <p:nvPr/>
        </p:nvPicPr>
        <p:blipFill>
          <a:blip r:embed="rId4"/>
          <a:stretch>
            <a:fillRect/>
          </a:stretch>
        </p:blipFill>
        <p:spPr>
          <a:xfrm>
            <a:off x="7115846" y="3798332"/>
            <a:ext cx="2904454" cy="3027524"/>
          </a:xfrm>
          <a:prstGeom prst="rect">
            <a:avLst/>
          </a:prstGeom>
        </p:spPr>
      </p:pic>
    </p:spTree>
    <p:extLst>
      <p:ext uri="{BB962C8B-B14F-4D97-AF65-F5344CB8AC3E}">
        <p14:creationId xmlns:p14="http://schemas.microsoft.com/office/powerpoint/2010/main" val="1962333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DF0B-7C00-C480-7979-5D756DC2A6C3}"/>
              </a:ext>
            </a:extLst>
          </p:cNvPr>
          <p:cNvSpPr>
            <a:spLocks noGrp="1"/>
          </p:cNvSpPr>
          <p:nvPr>
            <p:ph type="title"/>
          </p:nvPr>
        </p:nvSpPr>
        <p:spPr>
          <a:xfrm>
            <a:off x="838200" y="0"/>
            <a:ext cx="10515600" cy="1325563"/>
          </a:xfrm>
        </p:spPr>
        <p:txBody>
          <a:bodyPr/>
          <a:lstStyle/>
          <a:p>
            <a:r>
              <a:rPr lang="en-US" dirty="0"/>
              <a:t>Contrastive Loss</a:t>
            </a:r>
          </a:p>
        </p:txBody>
      </p:sp>
      <p:pic>
        <p:nvPicPr>
          <p:cNvPr id="6146" name="Picture 2" descr="Contrastive Learning in Feature Spaces: Your Practical Guide to ...">
            <a:extLst>
              <a:ext uri="{FF2B5EF4-FFF2-40B4-BE49-F238E27FC236}">
                <a16:creationId xmlns:a16="http://schemas.microsoft.com/office/drawing/2014/main" id="{A9A5F117-8DF9-E4B5-045B-9143C868D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425" y="1051719"/>
            <a:ext cx="10160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0FE65C1-34E9-602F-1EBD-BEC1FA95D775}"/>
              </a:ext>
            </a:extLst>
          </p:cNvPr>
          <p:cNvSpPr txBox="1"/>
          <p:nvPr/>
        </p:nvSpPr>
        <p:spPr>
          <a:xfrm>
            <a:off x="114300" y="5344616"/>
            <a:ext cx="11444287" cy="646331"/>
          </a:xfrm>
          <a:prstGeom prst="rect">
            <a:avLst/>
          </a:prstGeom>
          <a:noFill/>
        </p:spPr>
        <p:txBody>
          <a:bodyPr wrap="square">
            <a:spAutoFit/>
          </a:bodyPr>
          <a:lstStyle/>
          <a:p>
            <a:r>
              <a:rPr lang="en-US" dirty="0"/>
              <a:t>https://</a:t>
            </a:r>
            <a:r>
              <a:rPr lang="en-US" dirty="0" err="1"/>
              <a:t>dev.to</a:t>
            </a:r>
            <a:r>
              <a:rPr lang="en-US" dirty="0"/>
              <a:t>/satwik_mishra_4db19c395ae/contrastive-learning-in-feature-spaces-your-practical-guide-to-better-representations-52jk</a:t>
            </a:r>
          </a:p>
        </p:txBody>
      </p:sp>
    </p:spTree>
    <p:extLst>
      <p:ext uri="{BB962C8B-B14F-4D97-AF65-F5344CB8AC3E}">
        <p14:creationId xmlns:p14="http://schemas.microsoft.com/office/powerpoint/2010/main" val="48685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D7A1-D822-D3CC-9D61-4F7733047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14A69-D6F9-CE75-9251-7970082AD4FE}"/>
              </a:ext>
            </a:extLst>
          </p:cNvPr>
          <p:cNvSpPr>
            <a:spLocks noGrp="1"/>
          </p:cNvSpPr>
          <p:nvPr>
            <p:ph type="title"/>
          </p:nvPr>
        </p:nvSpPr>
        <p:spPr>
          <a:xfrm>
            <a:off x="0" y="-124322"/>
            <a:ext cx="10515600" cy="1325563"/>
          </a:xfrm>
        </p:spPr>
        <p:txBody>
          <a:bodyPr/>
          <a:lstStyle/>
          <a:p>
            <a:r>
              <a:rPr lang="en-US" dirty="0"/>
              <a:t>Contrastive Loss</a:t>
            </a:r>
          </a:p>
        </p:txBody>
      </p:sp>
      <p:pic>
        <p:nvPicPr>
          <p:cNvPr id="4" name="Content Placeholder 3">
            <a:extLst>
              <a:ext uri="{FF2B5EF4-FFF2-40B4-BE49-F238E27FC236}">
                <a16:creationId xmlns:a16="http://schemas.microsoft.com/office/drawing/2014/main" id="{ED096399-020A-A43D-B9FD-724068DD4494}"/>
              </a:ext>
            </a:extLst>
          </p:cNvPr>
          <p:cNvPicPr>
            <a:picLocks noGrp="1" noChangeAspect="1"/>
          </p:cNvPicPr>
          <p:nvPr>
            <p:ph idx="1"/>
          </p:nvPr>
        </p:nvPicPr>
        <p:blipFill>
          <a:blip r:embed="rId3"/>
          <a:srcRect l="5751"/>
          <a:stretch>
            <a:fillRect/>
          </a:stretch>
        </p:blipFill>
        <p:spPr>
          <a:xfrm>
            <a:off x="258544" y="4734688"/>
            <a:ext cx="11395293" cy="1844141"/>
          </a:xfrm>
          <a:prstGeom prst="rect">
            <a:avLst/>
          </a:prstGeom>
        </p:spPr>
      </p:pic>
      <p:sp>
        <p:nvSpPr>
          <p:cNvPr id="5" name="TextBox 4">
            <a:extLst>
              <a:ext uri="{FF2B5EF4-FFF2-40B4-BE49-F238E27FC236}">
                <a16:creationId xmlns:a16="http://schemas.microsoft.com/office/drawing/2014/main" id="{9F13425A-0D50-B1F9-9C97-C70FC47F58B8}"/>
              </a:ext>
            </a:extLst>
          </p:cNvPr>
          <p:cNvSpPr txBox="1"/>
          <p:nvPr/>
        </p:nvSpPr>
        <p:spPr>
          <a:xfrm>
            <a:off x="7153276" y="670526"/>
            <a:ext cx="1802096" cy="461665"/>
          </a:xfrm>
          <a:prstGeom prst="rect">
            <a:avLst/>
          </a:prstGeom>
          <a:noFill/>
        </p:spPr>
        <p:txBody>
          <a:bodyPr wrap="none" rtlCol="0">
            <a:spAutoFit/>
          </a:bodyPr>
          <a:lstStyle/>
          <a:p>
            <a:r>
              <a:rPr lang="en-US" sz="2400" dirty="0"/>
              <a:t>0: dissimilar</a:t>
            </a:r>
          </a:p>
        </p:txBody>
      </p:sp>
      <p:sp>
        <p:nvSpPr>
          <p:cNvPr id="7" name="TextBox 6">
            <a:extLst>
              <a:ext uri="{FF2B5EF4-FFF2-40B4-BE49-F238E27FC236}">
                <a16:creationId xmlns:a16="http://schemas.microsoft.com/office/drawing/2014/main" id="{77F86487-5E45-B897-A8A4-83E177149876}"/>
              </a:ext>
            </a:extLst>
          </p:cNvPr>
          <p:cNvSpPr txBox="1"/>
          <p:nvPr/>
        </p:nvSpPr>
        <p:spPr>
          <a:xfrm>
            <a:off x="7160419" y="1201241"/>
            <a:ext cx="6093618" cy="461665"/>
          </a:xfrm>
          <a:prstGeom prst="rect">
            <a:avLst/>
          </a:prstGeom>
          <a:noFill/>
        </p:spPr>
        <p:txBody>
          <a:bodyPr wrap="square">
            <a:spAutoFit/>
          </a:bodyPr>
          <a:lstStyle/>
          <a:p>
            <a:r>
              <a:rPr lang="en-US" sz="2400" dirty="0"/>
              <a:t>1 : similar</a:t>
            </a:r>
          </a:p>
        </p:txBody>
      </p:sp>
      <p:pic>
        <p:nvPicPr>
          <p:cNvPr id="6" name="Picture 5" descr="A graph with blue dots&#10;&#10;AI-generated content may be incorrect.">
            <a:extLst>
              <a:ext uri="{FF2B5EF4-FFF2-40B4-BE49-F238E27FC236}">
                <a16:creationId xmlns:a16="http://schemas.microsoft.com/office/drawing/2014/main" id="{49DC040A-AB04-D37B-27EE-8B26E0E3941C}"/>
              </a:ext>
            </a:extLst>
          </p:cNvPr>
          <p:cNvPicPr>
            <a:picLocks noChangeAspect="1"/>
          </p:cNvPicPr>
          <p:nvPr/>
        </p:nvPicPr>
        <p:blipFill>
          <a:blip r:embed="rId4"/>
          <a:stretch>
            <a:fillRect/>
          </a:stretch>
        </p:blipFill>
        <p:spPr>
          <a:xfrm>
            <a:off x="0" y="1132191"/>
            <a:ext cx="5038726" cy="3323667"/>
          </a:xfrm>
          <a:prstGeom prst="rect">
            <a:avLst/>
          </a:prstGeom>
        </p:spPr>
      </p:pic>
      <p:pic>
        <p:nvPicPr>
          <p:cNvPr id="9" name="Picture 8" descr="A screenshot of a black screen&#10;&#10;AI-generated content may be incorrect.">
            <a:extLst>
              <a:ext uri="{FF2B5EF4-FFF2-40B4-BE49-F238E27FC236}">
                <a16:creationId xmlns:a16="http://schemas.microsoft.com/office/drawing/2014/main" id="{6E10DC53-59C6-DFFE-DB84-EFA32F93A565}"/>
              </a:ext>
            </a:extLst>
          </p:cNvPr>
          <p:cNvPicPr>
            <a:picLocks noChangeAspect="1"/>
          </p:cNvPicPr>
          <p:nvPr/>
        </p:nvPicPr>
        <p:blipFill>
          <a:blip r:embed="rId5"/>
          <a:srcRect l="56460"/>
          <a:stretch>
            <a:fillRect/>
          </a:stretch>
        </p:blipFill>
        <p:spPr>
          <a:xfrm>
            <a:off x="6705091" y="2123312"/>
            <a:ext cx="2698465" cy="1790700"/>
          </a:xfrm>
          <a:prstGeom prst="rect">
            <a:avLst/>
          </a:prstGeom>
        </p:spPr>
      </p:pic>
    </p:spTree>
    <p:extLst>
      <p:ext uri="{BB962C8B-B14F-4D97-AF65-F5344CB8AC3E}">
        <p14:creationId xmlns:p14="http://schemas.microsoft.com/office/powerpoint/2010/main" val="3131917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ack background with white text&#10;&#10;AI-generated content may be incorrect.">
            <a:extLst>
              <a:ext uri="{FF2B5EF4-FFF2-40B4-BE49-F238E27FC236}">
                <a16:creationId xmlns:a16="http://schemas.microsoft.com/office/drawing/2014/main" id="{025CED8E-ED20-4F1D-7CFF-C2004C6D9E06}"/>
              </a:ext>
            </a:extLst>
          </p:cNvPr>
          <p:cNvPicPr>
            <a:picLocks noGrp="1" noChangeAspect="1"/>
          </p:cNvPicPr>
          <p:nvPr>
            <p:ph idx="1"/>
          </p:nvPr>
        </p:nvPicPr>
        <p:blipFill>
          <a:blip r:embed="rId3"/>
          <a:stretch>
            <a:fillRect/>
          </a:stretch>
        </p:blipFill>
        <p:spPr>
          <a:xfrm>
            <a:off x="554666" y="1100137"/>
            <a:ext cx="4281818" cy="1265793"/>
          </a:xfrm>
        </p:spPr>
      </p:pic>
      <p:sp>
        <p:nvSpPr>
          <p:cNvPr id="6" name="TextBox 5">
            <a:extLst>
              <a:ext uri="{FF2B5EF4-FFF2-40B4-BE49-F238E27FC236}">
                <a16:creationId xmlns:a16="http://schemas.microsoft.com/office/drawing/2014/main" id="{5F392B11-5E6C-3CF5-4309-E3B7DB768962}"/>
              </a:ext>
            </a:extLst>
          </p:cNvPr>
          <p:cNvSpPr txBox="1"/>
          <p:nvPr/>
        </p:nvSpPr>
        <p:spPr>
          <a:xfrm>
            <a:off x="1471613" y="585787"/>
            <a:ext cx="1843088" cy="369332"/>
          </a:xfrm>
          <a:prstGeom prst="rect">
            <a:avLst/>
          </a:prstGeom>
          <a:noFill/>
        </p:spPr>
        <p:txBody>
          <a:bodyPr wrap="square" rtlCol="0">
            <a:spAutoFit/>
          </a:bodyPr>
          <a:lstStyle/>
          <a:p>
            <a:r>
              <a:rPr lang="en-US" dirty="0"/>
              <a:t>Before training</a:t>
            </a:r>
          </a:p>
        </p:txBody>
      </p:sp>
      <p:pic>
        <p:nvPicPr>
          <p:cNvPr id="8" name="Picture 7" descr="A black screen with white text&#10;&#10;AI-generated content may be incorrect.">
            <a:extLst>
              <a:ext uri="{FF2B5EF4-FFF2-40B4-BE49-F238E27FC236}">
                <a16:creationId xmlns:a16="http://schemas.microsoft.com/office/drawing/2014/main" id="{098B736D-8B69-175C-843B-704FFE3F0E05}"/>
              </a:ext>
            </a:extLst>
          </p:cNvPr>
          <p:cNvPicPr>
            <a:picLocks noChangeAspect="1"/>
          </p:cNvPicPr>
          <p:nvPr/>
        </p:nvPicPr>
        <p:blipFill>
          <a:blip r:embed="rId4"/>
          <a:stretch>
            <a:fillRect/>
          </a:stretch>
        </p:blipFill>
        <p:spPr>
          <a:xfrm>
            <a:off x="7850186" y="1062037"/>
            <a:ext cx="4008341" cy="1265792"/>
          </a:xfrm>
          <a:prstGeom prst="rect">
            <a:avLst/>
          </a:prstGeom>
        </p:spPr>
      </p:pic>
      <p:sp>
        <p:nvSpPr>
          <p:cNvPr id="9" name="TextBox 8">
            <a:extLst>
              <a:ext uri="{FF2B5EF4-FFF2-40B4-BE49-F238E27FC236}">
                <a16:creationId xmlns:a16="http://schemas.microsoft.com/office/drawing/2014/main" id="{BFD6EFF2-A5D1-774B-BD0E-5CD853AF65A9}"/>
              </a:ext>
            </a:extLst>
          </p:cNvPr>
          <p:cNvSpPr txBox="1"/>
          <p:nvPr/>
        </p:nvSpPr>
        <p:spPr>
          <a:xfrm>
            <a:off x="8617743" y="656153"/>
            <a:ext cx="1843088" cy="369332"/>
          </a:xfrm>
          <a:prstGeom prst="rect">
            <a:avLst/>
          </a:prstGeom>
          <a:noFill/>
        </p:spPr>
        <p:txBody>
          <a:bodyPr wrap="square" rtlCol="0">
            <a:spAutoFit/>
          </a:bodyPr>
          <a:lstStyle/>
          <a:p>
            <a:r>
              <a:rPr lang="en-US" dirty="0"/>
              <a:t>After training</a:t>
            </a:r>
          </a:p>
        </p:txBody>
      </p:sp>
      <p:pic>
        <p:nvPicPr>
          <p:cNvPr id="10" name="Content Placeholder 4" descr="A graph with a line&#10;&#10;AI-generated content may be incorrect.">
            <a:extLst>
              <a:ext uri="{FF2B5EF4-FFF2-40B4-BE49-F238E27FC236}">
                <a16:creationId xmlns:a16="http://schemas.microsoft.com/office/drawing/2014/main" id="{C94DFCDB-5529-CA13-DA5C-B51BB58C0493}"/>
              </a:ext>
            </a:extLst>
          </p:cNvPr>
          <p:cNvPicPr>
            <a:picLocks noChangeAspect="1"/>
          </p:cNvPicPr>
          <p:nvPr/>
        </p:nvPicPr>
        <p:blipFill>
          <a:blip r:embed="rId5"/>
          <a:srcRect l="589" b="2323"/>
          <a:stretch>
            <a:fillRect/>
          </a:stretch>
        </p:blipFill>
        <p:spPr>
          <a:xfrm>
            <a:off x="2695575" y="2365930"/>
            <a:ext cx="6314411" cy="4250254"/>
          </a:xfrm>
          <a:prstGeom prst="rect">
            <a:avLst/>
          </a:prstGeom>
        </p:spPr>
      </p:pic>
    </p:spTree>
    <p:extLst>
      <p:ext uri="{BB962C8B-B14F-4D97-AF65-F5344CB8AC3E}">
        <p14:creationId xmlns:p14="http://schemas.microsoft.com/office/powerpoint/2010/main" val="1465564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A62D46-4BF8-BDE6-9238-A66B35578C56}"/>
              </a:ext>
            </a:extLst>
          </p:cNvPr>
          <p:cNvPicPr>
            <a:picLocks noChangeAspect="1"/>
          </p:cNvPicPr>
          <p:nvPr/>
        </p:nvPicPr>
        <p:blipFill>
          <a:blip r:embed="rId3"/>
          <a:stretch>
            <a:fillRect/>
          </a:stretch>
        </p:blipFill>
        <p:spPr>
          <a:xfrm>
            <a:off x="6096000" y="1298376"/>
            <a:ext cx="5681662" cy="4261247"/>
          </a:xfrm>
          <a:prstGeom prst="rect">
            <a:avLst/>
          </a:prstGeom>
        </p:spPr>
      </p:pic>
      <p:pic>
        <p:nvPicPr>
          <p:cNvPr id="5" name="Picture 4">
            <a:extLst>
              <a:ext uri="{FF2B5EF4-FFF2-40B4-BE49-F238E27FC236}">
                <a16:creationId xmlns:a16="http://schemas.microsoft.com/office/drawing/2014/main" id="{BE8DCC18-A703-BF2C-28C2-EA3208160F37}"/>
              </a:ext>
            </a:extLst>
          </p:cNvPr>
          <p:cNvPicPr>
            <a:picLocks noChangeAspect="1"/>
          </p:cNvPicPr>
          <p:nvPr/>
        </p:nvPicPr>
        <p:blipFill>
          <a:blip r:embed="rId4"/>
          <a:stretch>
            <a:fillRect/>
          </a:stretch>
        </p:blipFill>
        <p:spPr>
          <a:xfrm>
            <a:off x="201085" y="1318950"/>
            <a:ext cx="5760575" cy="4261247"/>
          </a:xfrm>
          <a:prstGeom prst="rect">
            <a:avLst/>
          </a:prstGeom>
        </p:spPr>
      </p:pic>
      <p:sp>
        <p:nvSpPr>
          <p:cNvPr id="6" name="TextBox 5">
            <a:extLst>
              <a:ext uri="{FF2B5EF4-FFF2-40B4-BE49-F238E27FC236}">
                <a16:creationId xmlns:a16="http://schemas.microsoft.com/office/drawing/2014/main" id="{84B08B7B-8B18-155F-D87F-0B3C3B3D48C2}"/>
              </a:ext>
            </a:extLst>
          </p:cNvPr>
          <p:cNvSpPr txBox="1"/>
          <p:nvPr/>
        </p:nvSpPr>
        <p:spPr>
          <a:xfrm>
            <a:off x="2159828" y="840819"/>
            <a:ext cx="1843088" cy="369332"/>
          </a:xfrm>
          <a:prstGeom prst="rect">
            <a:avLst/>
          </a:prstGeom>
          <a:noFill/>
        </p:spPr>
        <p:txBody>
          <a:bodyPr wrap="square" rtlCol="0">
            <a:spAutoFit/>
          </a:bodyPr>
          <a:lstStyle/>
          <a:p>
            <a:r>
              <a:rPr lang="en-US" dirty="0"/>
              <a:t>Before training</a:t>
            </a:r>
          </a:p>
        </p:txBody>
      </p:sp>
      <p:sp>
        <p:nvSpPr>
          <p:cNvPr id="7" name="TextBox 6">
            <a:extLst>
              <a:ext uri="{FF2B5EF4-FFF2-40B4-BE49-F238E27FC236}">
                <a16:creationId xmlns:a16="http://schemas.microsoft.com/office/drawing/2014/main" id="{521CB7DB-C512-30B1-AD22-D96D0A1B2886}"/>
              </a:ext>
            </a:extLst>
          </p:cNvPr>
          <p:cNvSpPr txBox="1"/>
          <p:nvPr/>
        </p:nvSpPr>
        <p:spPr>
          <a:xfrm>
            <a:off x="8617743" y="851891"/>
            <a:ext cx="1843088" cy="369332"/>
          </a:xfrm>
          <a:prstGeom prst="rect">
            <a:avLst/>
          </a:prstGeom>
          <a:noFill/>
        </p:spPr>
        <p:txBody>
          <a:bodyPr wrap="square" rtlCol="0">
            <a:spAutoFit/>
          </a:bodyPr>
          <a:lstStyle/>
          <a:p>
            <a:r>
              <a:rPr lang="en-US" dirty="0"/>
              <a:t>After training</a:t>
            </a:r>
          </a:p>
        </p:txBody>
      </p:sp>
    </p:spTree>
    <p:extLst>
      <p:ext uri="{BB962C8B-B14F-4D97-AF65-F5344CB8AC3E}">
        <p14:creationId xmlns:p14="http://schemas.microsoft.com/office/powerpoint/2010/main" val="3570780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DF381-FA94-5FB4-3AE7-1B75E38D33D8}"/>
              </a:ext>
            </a:extLst>
          </p:cNvPr>
          <p:cNvSpPr>
            <a:spLocks noGrp="1"/>
          </p:cNvSpPr>
          <p:nvPr>
            <p:ph type="title"/>
          </p:nvPr>
        </p:nvSpPr>
        <p:spPr/>
        <p:txBody>
          <a:bodyPr/>
          <a:lstStyle/>
          <a:p>
            <a:r>
              <a:rPr lang="en-US" dirty="0"/>
              <a:t>validate</a:t>
            </a:r>
          </a:p>
        </p:txBody>
      </p:sp>
      <p:pic>
        <p:nvPicPr>
          <p:cNvPr id="5" name="Content Placeholder 4" descr="A graph of a graph&#10;&#10;AI-generated content may be incorrect.">
            <a:extLst>
              <a:ext uri="{FF2B5EF4-FFF2-40B4-BE49-F238E27FC236}">
                <a16:creationId xmlns:a16="http://schemas.microsoft.com/office/drawing/2014/main" id="{86C2E79B-CF22-9E47-257A-1AC790354F89}"/>
              </a:ext>
            </a:extLst>
          </p:cNvPr>
          <p:cNvPicPr>
            <a:picLocks noGrp="1" noChangeAspect="1"/>
          </p:cNvPicPr>
          <p:nvPr>
            <p:ph idx="1"/>
          </p:nvPr>
        </p:nvPicPr>
        <p:blipFill>
          <a:blip r:embed="rId3"/>
          <a:stretch>
            <a:fillRect/>
          </a:stretch>
        </p:blipFill>
        <p:spPr>
          <a:xfrm>
            <a:off x="838200" y="1878399"/>
            <a:ext cx="5295900" cy="3949700"/>
          </a:xfrm>
        </p:spPr>
      </p:pic>
      <p:sp>
        <p:nvSpPr>
          <p:cNvPr id="7" name="TextBox 6">
            <a:extLst>
              <a:ext uri="{FF2B5EF4-FFF2-40B4-BE49-F238E27FC236}">
                <a16:creationId xmlns:a16="http://schemas.microsoft.com/office/drawing/2014/main" id="{BDC2B4C0-E1AA-8A54-6ABE-BDFEBB2756BE}"/>
              </a:ext>
            </a:extLst>
          </p:cNvPr>
          <p:cNvSpPr txBox="1"/>
          <p:nvPr/>
        </p:nvSpPr>
        <p:spPr>
          <a:xfrm>
            <a:off x="6486525" y="3310235"/>
            <a:ext cx="5586413" cy="1200329"/>
          </a:xfrm>
          <a:prstGeom prst="rect">
            <a:avLst/>
          </a:prstGeom>
          <a:noFill/>
        </p:spPr>
        <p:txBody>
          <a:bodyPr wrap="square">
            <a:spAutoFit/>
          </a:bodyPr>
          <a:lstStyle/>
          <a:p>
            <a:r>
              <a:rPr lang="en-US" b="0" i="0" dirty="0">
                <a:effectLst/>
                <a:latin typeface="Menlo" panose="020B0609030804020204" pitchFamily="49" charset="0"/>
              </a:rPr>
              <a:t>{'</a:t>
            </a:r>
            <a:r>
              <a:rPr lang="en-US" b="0" i="0" dirty="0" err="1">
                <a:effectLst/>
                <a:latin typeface="Menlo" panose="020B0609030804020204" pitchFamily="49" charset="0"/>
              </a:rPr>
              <a:t>avg_same</a:t>
            </a:r>
            <a:r>
              <a:rPr lang="en-US" b="0" i="0" dirty="0">
                <a:effectLst/>
                <a:latin typeface="Menlo" panose="020B0609030804020204" pitchFamily="49" charset="0"/>
              </a:rPr>
              <a:t>': 0.41344153881073, '</a:t>
            </a:r>
            <a:r>
              <a:rPr lang="en-US" b="0" i="0" dirty="0" err="1">
                <a:effectLst/>
                <a:latin typeface="Menlo" panose="020B0609030804020204" pitchFamily="49" charset="0"/>
              </a:rPr>
              <a:t>avg_opposite</a:t>
            </a:r>
            <a:r>
              <a:rPr lang="en-US" b="0" i="0" dirty="0">
                <a:effectLst/>
                <a:latin typeface="Menlo" panose="020B0609030804020204" pitchFamily="49" charset="0"/>
              </a:rPr>
              <a:t>': 0.42540600895881653, </a:t>
            </a:r>
          </a:p>
          <a:p>
            <a:r>
              <a:rPr lang="en-US" b="0" i="0" dirty="0">
                <a:effectLst/>
                <a:latin typeface="Menlo" panose="020B0609030804020204" pitchFamily="49" charset="0"/>
              </a:rPr>
              <a:t>'</a:t>
            </a:r>
            <a:r>
              <a:rPr lang="en-US" b="0" i="0" dirty="0" err="1">
                <a:effectLst/>
                <a:latin typeface="Menlo" panose="020B0609030804020204" pitchFamily="49" charset="0"/>
              </a:rPr>
              <a:t>n_same</a:t>
            </a:r>
            <a:r>
              <a:rPr lang="en-US" b="0" i="0" dirty="0">
                <a:effectLst/>
                <a:latin typeface="Menlo" panose="020B0609030804020204" pitchFamily="49" charset="0"/>
              </a:rPr>
              <a:t>': 2103, </a:t>
            </a:r>
          </a:p>
          <a:p>
            <a:r>
              <a:rPr lang="en-US" b="0" i="0" dirty="0">
                <a:effectLst/>
                <a:latin typeface="Menlo" panose="020B0609030804020204" pitchFamily="49" charset="0"/>
              </a:rPr>
              <a:t>'</a:t>
            </a:r>
            <a:r>
              <a:rPr lang="en-US" b="0" i="0" dirty="0" err="1">
                <a:effectLst/>
                <a:latin typeface="Menlo" panose="020B0609030804020204" pitchFamily="49" charset="0"/>
              </a:rPr>
              <a:t>n_opposite</a:t>
            </a:r>
            <a:r>
              <a:rPr lang="en-US" b="0" i="0" dirty="0">
                <a:effectLst/>
                <a:latin typeface="Menlo" panose="020B0609030804020204" pitchFamily="49" charset="0"/>
              </a:rPr>
              <a:t>': 17897}</a:t>
            </a:r>
            <a:endParaRPr lang="en-US" dirty="0"/>
          </a:p>
        </p:txBody>
      </p:sp>
    </p:spTree>
    <p:extLst>
      <p:ext uri="{BB962C8B-B14F-4D97-AF65-F5344CB8AC3E}">
        <p14:creationId xmlns:p14="http://schemas.microsoft.com/office/powerpoint/2010/main" val="807222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ACF7-19EF-4905-000C-A1436F132314}"/>
              </a:ext>
            </a:extLst>
          </p:cNvPr>
          <p:cNvSpPr>
            <a:spLocks noGrp="1"/>
          </p:cNvSpPr>
          <p:nvPr>
            <p:ph type="title"/>
          </p:nvPr>
        </p:nvSpPr>
        <p:spPr/>
        <p:txBody>
          <a:bodyPr/>
          <a:lstStyle/>
          <a:p>
            <a:r>
              <a:rPr lang="en-US" dirty="0"/>
              <a:t>Margin parameter</a:t>
            </a:r>
          </a:p>
        </p:txBody>
      </p:sp>
      <p:pic>
        <p:nvPicPr>
          <p:cNvPr id="5" name="Content Placeholder 4">
            <a:extLst>
              <a:ext uri="{FF2B5EF4-FFF2-40B4-BE49-F238E27FC236}">
                <a16:creationId xmlns:a16="http://schemas.microsoft.com/office/drawing/2014/main" id="{FCB50D3E-3A0D-22AE-83F9-210BD5BF07CF}"/>
              </a:ext>
            </a:extLst>
          </p:cNvPr>
          <p:cNvPicPr>
            <a:picLocks noGrp="1" noChangeAspect="1"/>
          </p:cNvPicPr>
          <p:nvPr>
            <p:ph idx="1"/>
          </p:nvPr>
        </p:nvPicPr>
        <p:blipFill>
          <a:blip r:embed="rId3"/>
          <a:stretch>
            <a:fillRect/>
          </a:stretch>
        </p:blipFill>
        <p:spPr>
          <a:xfrm>
            <a:off x="2794000" y="1588294"/>
            <a:ext cx="6604000" cy="647700"/>
          </a:xfrm>
        </p:spPr>
      </p:pic>
      <p:sp>
        <p:nvSpPr>
          <p:cNvPr id="8" name="TextBox 7">
            <a:extLst>
              <a:ext uri="{FF2B5EF4-FFF2-40B4-BE49-F238E27FC236}">
                <a16:creationId xmlns:a16="http://schemas.microsoft.com/office/drawing/2014/main" id="{4C40DA8F-353F-8774-E956-B02118A47D9D}"/>
              </a:ext>
            </a:extLst>
          </p:cNvPr>
          <p:cNvSpPr txBox="1"/>
          <p:nvPr/>
        </p:nvSpPr>
        <p:spPr>
          <a:xfrm>
            <a:off x="1027548" y="2809682"/>
            <a:ext cx="1784784" cy="369332"/>
          </a:xfrm>
          <a:prstGeom prst="rect">
            <a:avLst/>
          </a:prstGeom>
          <a:noFill/>
        </p:spPr>
        <p:txBody>
          <a:bodyPr wrap="none" rtlCol="0">
            <a:spAutoFit/>
          </a:bodyPr>
          <a:lstStyle/>
          <a:p>
            <a:r>
              <a:rPr lang="en-US" dirty="0"/>
              <a:t>Positive pair y=1</a:t>
            </a:r>
          </a:p>
        </p:txBody>
      </p:sp>
      <p:sp>
        <p:nvSpPr>
          <p:cNvPr id="10" name="TextBox 9">
            <a:extLst>
              <a:ext uri="{FF2B5EF4-FFF2-40B4-BE49-F238E27FC236}">
                <a16:creationId xmlns:a16="http://schemas.microsoft.com/office/drawing/2014/main" id="{E85540B3-8A6C-1B8A-A1DE-26B8C3FB3A28}"/>
              </a:ext>
            </a:extLst>
          </p:cNvPr>
          <p:cNvSpPr txBox="1"/>
          <p:nvPr/>
        </p:nvSpPr>
        <p:spPr>
          <a:xfrm>
            <a:off x="6398904" y="3048973"/>
            <a:ext cx="1994264" cy="369332"/>
          </a:xfrm>
          <a:prstGeom prst="rect">
            <a:avLst/>
          </a:prstGeom>
          <a:noFill/>
        </p:spPr>
        <p:txBody>
          <a:bodyPr wrap="none" rtlCol="0">
            <a:spAutoFit/>
          </a:bodyPr>
          <a:lstStyle/>
          <a:p>
            <a:r>
              <a:rPr lang="en-US" dirty="0"/>
              <a:t>Negative pairs y=0</a:t>
            </a:r>
          </a:p>
        </p:txBody>
      </p:sp>
      <p:pic>
        <p:nvPicPr>
          <p:cNvPr id="12" name="Picture 11" descr="A black background with white letters&#10;&#10;AI-generated content may be incorrect.">
            <a:extLst>
              <a:ext uri="{FF2B5EF4-FFF2-40B4-BE49-F238E27FC236}">
                <a16:creationId xmlns:a16="http://schemas.microsoft.com/office/drawing/2014/main" id="{DCD464CA-E41D-F5E2-44B7-D6D8A59E4B5C}"/>
              </a:ext>
            </a:extLst>
          </p:cNvPr>
          <p:cNvPicPr>
            <a:picLocks noChangeAspect="1"/>
          </p:cNvPicPr>
          <p:nvPr/>
        </p:nvPicPr>
        <p:blipFill>
          <a:blip r:embed="rId4"/>
          <a:srcRect t="31186"/>
          <a:stretch>
            <a:fillRect/>
          </a:stretch>
        </p:blipFill>
        <p:spPr>
          <a:xfrm>
            <a:off x="3769659" y="2549805"/>
            <a:ext cx="1671918" cy="1174980"/>
          </a:xfrm>
          <a:prstGeom prst="rect">
            <a:avLst/>
          </a:prstGeom>
        </p:spPr>
      </p:pic>
      <p:pic>
        <p:nvPicPr>
          <p:cNvPr id="14" name="Picture 13" descr="A black and white logo&#10;&#10;AI-generated content may be incorrect.">
            <a:extLst>
              <a:ext uri="{FF2B5EF4-FFF2-40B4-BE49-F238E27FC236}">
                <a16:creationId xmlns:a16="http://schemas.microsoft.com/office/drawing/2014/main" id="{F3048102-3EE4-55B1-CA8E-EC31ABC197F8}"/>
              </a:ext>
            </a:extLst>
          </p:cNvPr>
          <p:cNvPicPr>
            <a:picLocks noChangeAspect="1"/>
          </p:cNvPicPr>
          <p:nvPr/>
        </p:nvPicPr>
        <p:blipFill>
          <a:blip r:embed="rId5"/>
          <a:stretch>
            <a:fillRect/>
          </a:stretch>
        </p:blipFill>
        <p:spPr>
          <a:xfrm>
            <a:off x="8525065" y="2809682"/>
            <a:ext cx="3244902" cy="847914"/>
          </a:xfrm>
          <a:prstGeom prst="rect">
            <a:avLst/>
          </a:prstGeom>
        </p:spPr>
      </p:pic>
    </p:spTree>
    <p:extLst>
      <p:ext uri="{BB962C8B-B14F-4D97-AF65-F5344CB8AC3E}">
        <p14:creationId xmlns:p14="http://schemas.microsoft.com/office/powerpoint/2010/main" val="3510953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E6638-BA94-94C1-EE38-99CCB3565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CF2FF-CB77-9EEA-A178-651207A71471}"/>
              </a:ext>
            </a:extLst>
          </p:cNvPr>
          <p:cNvSpPr>
            <a:spLocks noGrp="1"/>
          </p:cNvSpPr>
          <p:nvPr>
            <p:ph type="title"/>
          </p:nvPr>
        </p:nvSpPr>
        <p:spPr/>
        <p:txBody>
          <a:bodyPr/>
          <a:lstStyle/>
          <a:p>
            <a:r>
              <a:rPr lang="en-US" dirty="0"/>
              <a:t>Margin parameter</a:t>
            </a:r>
          </a:p>
        </p:txBody>
      </p:sp>
      <p:pic>
        <p:nvPicPr>
          <p:cNvPr id="5" name="Content Placeholder 4">
            <a:extLst>
              <a:ext uri="{FF2B5EF4-FFF2-40B4-BE49-F238E27FC236}">
                <a16:creationId xmlns:a16="http://schemas.microsoft.com/office/drawing/2014/main" id="{B5677BE5-3C18-7966-B494-1F1665353979}"/>
              </a:ext>
            </a:extLst>
          </p:cNvPr>
          <p:cNvPicPr>
            <a:picLocks noGrp="1" noChangeAspect="1"/>
          </p:cNvPicPr>
          <p:nvPr>
            <p:ph idx="1"/>
          </p:nvPr>
        </p:nvPicPr>
        <p:blipFill>
          <a:blip r:embed="rId3"/>
          <a:stretch>
            <a:fillRect/>
          </a:stretch>
        </p:blipFill>
        <p:spPr>
          <a:xfrm>
            <a:off x="2794000" y="1588294"/>
            <a:ext cx="6604000" cy="647700"/>
          </a:xfrm>
        </p:spPr>
      </p:pic>
      <p:sp>
        <p:nvSpPr>
          <p:cNvPr id="8" name="TextBox 7">
            <a:extLst>
              <a:ext uri="{FF2B5EF4-FFF2-40B4-BE49-F238E27FC236}">
                <a16:creationId xmlns:a16="http://schemas.microsoft.com/office/drawing/2014/main" id="{FBF00813-DF37-3888-8D75-4FB4DE67C1D2}"/>
              </a:ext>
            </a:extLst>
          </p:cNvPr>
          <p:cNvSpPr txBox="1"/>
          <p:nvPr/>
        </p:nvSpPr>
        <p:spPr>
          <a:xfrm>
            <a:off x="1027548" y="2809682"/>
            <a:ext cx="1784784" cy="369332"/>
          </a:xfrm>
          <a:prstGeom prst="rect">
            <a:avLst/>
          </a:prstGeom>
          <a:noFill/>
        </p:spPr>
        <p:txBody>
          <a:bodyPr wrap="none" rtlCol="0">
            <a:spAutoFit/>
          </a:bodyPr>
          <a:lstStyle/>
          <a:p>
            <a:r>
              <a:rPr lang="en-US" dirty="0"/>
              <a:t>Positive pair y=1</a:t>
            </a:r>
          </a:p>
        </p:txBody>
      </p:sp>
      <p:sp>
        <p:nvSpPr>
          <p:cNvPr id="10" name="TextBox 9">
            <a:extLst>
              <a:ext uri="{FF2B5EF4-FFF2-40B4-BE49-F238E27FC236}">
                <a16:creationId xmlns:a16="http://schemas.microsoft.com/office/drawing/2014/main" id="{83DF56FD-F825-E530-790F-B7641F1165FE}"/>
              </a:ext>
            </a:extLst>
          </p:cNvPr>
          <p:cNvSpPr txBox="1"/>
          <p:nvPr/>
        </p:nvSpPr>
        <p:spPr>
          <a:xfrm>
            <a:off x="6398904" y="3048973"/>
            <a:ext cx="1994264" cy="369332"/>
          </a:xfrm>
          <a:prstGeom prst="rect">
            <a:avLst/>
          </a:prstGeom>
          <a:noFill/>
        </p:spPr>
        <p:txBody>
          <a:bodyPr wrap="none" rtlCol="0">
            <a:spAutoFit/>
          </a:bodyPr>
          <a:lstStyle/>
          <a:p>
            <a:r>
              <a:rPr lang="en-US" dirty="0"/>
              <a:t>Negative pairs y=0</a:t>
            </a:r>
          </a:p>
        </p:txBody>
      </p:sp>
      <p:pic>
        <p:nvPicPr>
          <p:cNvPr id="12" name="Picture 11" descr="A black background with white letters&#10;&#10;AI-generated content may be incorrect.">
            <a:extLst>
              <a:ext uri="{FF2B5EF4-FFF2-40B4-BE49-F238E27FC236}">
                <a16:creationId xmlns:a16="http://schemas.microsoft.com/office/drawing/2014/main" id="{259ABA8B-013B-8DAD-3660-4755785DA054}"/>
              </a:ext>
            </a:extLst>
          </p:cNvPr>
          <p:cNvPicPr>
            <a:picLocks noChangeAspect="1"/>
          </p:cNvPicPr>
          <p:nvPr/>
        </p:nvPicPr>
        <p:blipFill>
          <a:blip r:embed="rId4"/>
          <a:srcRect t="31186"/>
          <a:stretch>
            <a:fillRect/>
          </a:stretch>
        </p:blipFill>
        <p:spPr>
          <a:xfrm>
            <a:off x="3769659" y="2549805"/>
            <a:ext cx="1671918" cy="1174980"/>
          </a:xfrm>
          <a:prstGeom prst="rect">
            <a:avLst/>
          </a:prstGeom>
        </p:spPr>
      </p:pic>
      <p:pic>
        <p:nvPicPr>
          <p:cNvPr id="14" name="Picture 13" descr="A black and white logo&#10;&#10;AI-generated content may be incorrect.">
            <a:extLst>
              <a:ext uri="{FF2B5EF4-FFF2-40B4-BE49-F238E27FC236}">
                <a16:creationId xmlns:a16="http://schemas.microsoft.com/office/drawing/2014/main" id="{39ED8011-0F57-303F-596B-69A35C7365D5}"/>
              </a:ext>
            </a:extLst>
          </p:cNvPr>
          <p:cNvPicPr>
            <a:picLocks noChangeAspect="1"/>
          </p:cNvPicPr>
          <p:nvPr/>
        </p:nvPicPr>
        <p:blipFill>
          <a:blip r:embed="rId5"/>
          <a:stretch>
            <a:fillRect/>
          </a:stretch>
        </p:blipFill>
        <p:spPr>
          <a:xfrm>
            <a:off x="8525065" y="2809682"/>
            <a:ext cx="3244902" cy="847914"/>
          </a:xfrm>
          <a:prstGeom prst="rect">
            <a:avLst/>
          </a:prstGeom>
        </p:spPr>
      </p:pic>
      <p:sp>
        <p:nvSpPr>
          <p:cNvPr id="16" name="TextBox 15">
            <a:extLst>
              <a:ext uri="{FF2B5EF4-FFF2-40B4-BE49-F238E27FC236}">
                <a16:creationId xmlns:a16="http://schemas.microsoft.com/office/drawing/2014/main" id="{5D3B27FA-8007-DD2C-C498-A30E14A79F8A}"/>
              </a:ext>
            </a:extLst>
          </p:cNvPr>
          <p:cNvSpPr txBox="1"/>
          <p:nvPr/>
        </p:nvSpPr>
        <p:spPr>
          <a:xfrm>
            <a:off x="3402275" y="4437341"/>
            <a:ext cx="1203343" cy="369332"/>
          </a:xfrm>
          <a:prstGeom prst="rect">
            <a:avLst/>
          </a:prstGeom>
          <a:noFill/>
        </p:spPr>
        <p:txBody>
          <a:bodyPr wrap="none" rtlCol="0">
            <a:spAutoFit/>
          </a:bodyPr>
          <a:lstStyle/>
          <a:p>
            <a:r>
              <a:rPr lang="en-US" dirty="0"/>
              <a:t>Margin &gt; d</a:t>
            </a:r>
          </a:p>
        </p:txBody>
      </p:sp>
      <p:sp>
        <p:nvSpPr>
          <p:cNvPr id="17" name="TextBox 16">
            <a:extLst>
              <a:ext uri="{FF2B5EF4-FFF2-40B4-BE49-F238E27FC236}">
                <a16:creationId xmlns:a16="http://schemas.microsoft.com/office/drawing/2014/main" id="{A65DAD16-ED40-929D-A2D5-5805E3ABB5EC}"/>
              </a:ext>
            </a:extLst>
          </p:cNvPr>
          <p:cNvSpPr txBox="1"/>
          <p:nvPr/>
        </p:nvSpPr>
        <p:spPr>
          <a:xfrm>
            <a:off x="3402274" y="5085040"/>
            <a:ext cx="1203343" cy="369332"/>
          </a:xfrm>
          <a:prstGeom prst="rect">
            <a:avLst/>
          </a:prstGeom>
          <a:noFill/>
        </p:spPr>
        <p:txBody>
          <a:bodyPr wrap="none" rtlCol="0">
            <a:spAutoFit/>
          </a:bodyPr>
          <a:lstStyle/>
          <a:p>
            <a:r>
              <a:rPr lang="en-US" dirty="0"/>
              <a:t>Margin = d</a:t>
            </a:r>
          </a:p>
        </p:txBody>
      </p:sp>
      <p:sp>
        <p:nvSpPr>
          <p:cNvPr id="18" name="TextBox 17">
            <a:extLst>
              <a:ext uri="{FF2B5EF4-FFF2-40B4-BE49-F238E27FC236}">
                <a16:creationId xmlns:a16="http://schemas.microsoft.com/office/drawing/2014/main" id="{496796CD-3CDC-43BB-A1D2-2F23B3D9BB62}"/>
              </a:ext>
            </a:extLst>
          </p:cNvPr>
          <p:cNvSpPr txBox="1"/>
          <p:nvPr/>
        </p:nvSpPr>
        <p:spPr>
          <a:xfrm>
            <a:off x="3402273" y="5741466"/>
            <a:ext cx="1203343" cy="369332"/>
          </a:xfrm>
          <a:prstGeom prst="rect">
            <a:avLst/>
          </a:prstGeom>
          <a:noFill/>
        </p:spPr>
        <p:txBody>
          <a:bodyPr wrap="none" rtlCol="0">
            <a:spAutoFit/>
          </a:bodyPr>
          <a:lstStyle/>
          <a:p>
            <a:r>
              <a:rPr lang="en-US" dirty="0"/>
              <a:t>Margin &lt; d</a:t>
            </a:r>
          </a:p>
        </p:txBody>
      </p:sp>
      <p:sp>
        <p:nvSpPr>
          <p:cNvPr id="19" name="Oval 18">
            <a:extLst>
              <a:ext uri="{FF2B5EF4-FFF2-40B4-BE49-F238E27FC236}">
                <a16:creationId xmlns:a16="http://schemas.microsoft.com/office/drawing/2014/main" id="{0DC87D05-01A2-D5FD-6302-693EA9E62CA3}"/>
              </a:ext>
            </a:extLst>
          </p:cNvPr>
          <p:cNvSpPr/>
          <p:nvPr/>
        </p:nvSpPr>
        <p:spPr>
          <a:xfrm>
            <a:off x="4836460" y="4437341"/>
            <a:ext cx="416859"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BE80ADC-B60A-89CB-4DD5-2B884AE117E4}"/>
              </a:ext>
            </a:extLst>
          </p:cNvPr>
          <p:cNvSpPr/>
          <p:nvPr/>
        </p:nvSpPr>
        <p:spPr>
          <a:xfrm>
            <a:off x="5982045" y="4437341"/>
            <a:ext cx="416859"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Right Arrow 20">
            <a:extLst>
              <a:ext uri="{FF2B5EF4-FFF2-40B4-BE49-F238E27FC236}">
                <a16:creationId xmlns:a16="http://schemas.microsoft.com/office/drawing/2014/main" id="{032421BD-C74E-D2F1-68BE-A59ADC9E41D7}"/>
              </a:ext>
            </a:extLst>
          </p:cNvPr>
          <p:cNvSpPr/>
          <p:nvPr/>
        </p:nvSpPr>
        <p:spPr>
          <a:xfrm>
            <a:off x="5441577" y="4514431"/>
            <a:ext cx="394447" cy="184666"/>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F3E42D9-7B55-15F8-E5B7-B8D8C38F607E}"/>
              </a:ext>
            </a:extLst>
          </p:cNvPr>
          <p:cNvSpPr/>
          <p:nvPr/>
        </p:nvSpPr>
        <p:spPr>
          <a:xfrm>
            <a:off x="4836460" y="5073833"/>
            <a:ext cx="416859"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D08D77A-4584-13CE-3C0F-5C68A1A54239}"/>
              </a:ext>
            </a:extLst>
          </p:cNvPr>
          <p:cNvSpPr/>
          <p:nvPr/>
        </p:nvSpPr>
        <p:spPr>
          <a:xfrm>
            <a:off x="5982045" y="5073833"/>
            <a:ext cx="416859"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73FED72-A058-8A15-E525-1E5337214FFE}"/>
              </a:ext>
            </a:extLst>
          </p:cNvPr>
          <p:cNvSpPr/>
          <p:nvPr/>
        </p:nvSpPr>
        <p:spPr>
          <a:xfrm>
            <a:off x="4836460" y="5737219"/>
            <a:ext cx="416859"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6E43B49-EC55-6BFC-3FFB-D1EB07398822}"/>
              </a:ext>
            </a:extLst>
          </p:cNvPr>
          <p:cNvSpPr/>
          <p:nvPr/>
        </p:nvSpPr>
        <p:spPr>
          <a:xfrm>
            <a:off x="5982045" y="5737219"/>
            <a:ext cx="416859"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9F8EC22-2AB8-86F6-9552-2B7220D0AB37}"/>
              </a:ext>
            </a:extLst>
          </p:cNvPr>
          <p:cNvSpPr txBox="1"/>
          <p:nvPr/>
        </p:nvSpPr>
        <p:spPr>
          <a:xfrm>
            <a:off x="6614057" y="5737219"/>
            <a:ext cx="1709980" cy="369332"/>
          </a:xfrm>
          <a:prstGeom prst="rect">
            <a:avLst/>
          </a:prstGeom>
          <a:noFill/>
        </p:spPr>
        <p:txBody>
          <a:bodyPr wrap="square" rtlCol="0">
            <a:spAutoFit/>
          </a:bodyPr>
          <a:lstStyle/>
          <a:p>
            <a:r>
              <a:rPr lang="en-US" dirty="0"/>
              <a:t>Zero loss</a:t>
            </a:r>
          </a:p>
        </p:txBody>
      </p:sp>
      <p:sp>
        <p:nvSpPr>
          <p:cNvPr id="27" name="TextBox 26">
            <a:extLst>
              <a:ext uri="{FF2B5EF4-FFF2-40B4-BE49-F238E27FC236}">
                <a16:creationId xmlns:a16="http://schemas.microsoft.com/office/drawing/2014/main" id="{56A4EA0D-45DE-4D95-A6EE-8A42AE914CD8}"/>
              </a:ext>
            </a:extLst>
          </p:cNvPr>
          <p:cNvSpPr txBox="1"/>
          <p:nvPr/>
        </p:nvSpPr>
        <p:spPr>
          <a:xfrm>
            <a:off x="6614057" y="4514431"/>
            <a:ext cx="1709980" cy="369332"/>
          </a:xfrm>
          <a:prstGeom prst="rect">
            <a:avLst/>
          </a:prstGeom>
          <a:noFill/>
        </p:spPr>
        <p:txBody>
          <a:bodyPr wrap="square" rtlCol="0">
            <a:spAutoFit/>
          </a:bodyPr>
          <a:lstStyle/>
          <a:p>
            <a:r>
              <a:rPr lang="en-US" dirty="0"/>
              <a:t>Pushed apart</a:t>
            </a:r>
          </a:p>
        </p:txBody>
      </p:sp>
      <p:sp>
        <p:nvSpPr>
          <p:cNvPr id="28" name="TextBox 27">
            <a:extLst>
              <a:ext uri="{FF2B5EF4-FFF2-40B4-BE49-F238E27FC236}">
                <a16:creationId xmlns:a16="http://schemas.microsoft.com/office/drawing/2014/main" id="{8FEB7B00-4598-59F4-5F83-94E7F760351A}"/>
              </a:ext>
            </a:extLst>
          </p:cNvPr>
          <p:cNvSpPr txBox="1"/>
          <p:nvPr/>
        </p:nvSpPr>
        <p:spPr>
          <a:xfrm>
            <a:off x="6614057" y="5085040"/>
            <a:ext cx="1709980" cy="369332"/>
          </a:xfrm>
          <a:prstGeom prst="rect">
            <a:avLst/>
          </a:prstGeom>
          <a:noFill/>
        </p:spPr>
        <p:txBody>
          <a:bodyPr wrap="square" rtlCol="0">
            <a:spAutoFit/>
          </a:bodyPr>
          <a:lstStyle/>
          <a:p>
            <a:r>
              <a:rPr lang="en-US" dirty="0"/>
              <a:t>stays</a:t>
            </a:r>
          </a:p>
        </p:txBody>
      </p:sp>
    </p:spTree>
    <p:extLst>
      <p:ext uri="{BB962C8B-B14F-4D97-AF65-F5344CB8AC3E}">
        <p14:creationId xmlns:p14="http://schemas.microsoft.com/office/powerpoint/2010/main" val="896126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B2D713-02EC-B148-2696-28CCFF64F241}"/>
              </a:ext>
            </a:extLst>
          </p:cNvPr>
          <p:cNvSpPr txBox="1">
            <a:spLocks/>
          </p:cNvSpPr>
          <p:nvPr/>
        </p:nvSpPr>
        <p:spPr>
          <a:xfrm>
            <a:off x="43478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Embedding parameter </a:t>
            </a:r>
          </a:p>
        </p:txBody>
      </p:sp>
      <p:pic>
        <p:nvPicPr>
          <p:cNvPr id="6" name="Picture 5" descr="A group of colorful dots&#10;&#10;AI-generated content may be incorrect.">
            <a:extLst>
              <a:ext uri="{FF2B5EF4-FFF2-40B4-BE49-F238E27FC236}">
                <a16:creationId xmlns:a16="http://schemas.microsoft.com/office/drawing/2014/main" id="{8CC16377-2641-609E-EB37-38C452F6C232}"/>
              </a:ext>
            </a:extLst>
          </p:cNvPr>
          <p:cNvPicPr>
            <a:picLocks noChangeAspect="1"/>
          </p:cNvPicPr>
          <p:nvPr/>
        </p:nvPicPr>
        <p:blipFill>
          <a:blip r:embed="rId3"/>
          <a:stretch>
            <a:fillRect/>
          </a:stretch>
        </p:blipFill>
        <p:spPr>
          <a:xfrm>
            <a:off x="1806389" y="1096316"/>
            <a:ext cx="7772400" cy="2545545"/>
          </a:xfrm>
          <a:prstGeom prst="rect">
            <a:avLst/>
          </a:prstGeom>
        </p:spPr>
      </p:pic>
      <p:pic>
        <p:nvPicPr>
          <p:cNvPr id="8" name="Picture 7" descr="A group of colorful dots&#10;&#10;AI-generated content may be incorrect.">
            <a:extLst>
              <a:ext uri="{FF2B5EF4-FFF2-40B4-BE49-F238E27FC236}">
                <a16:creationId xmlns:a16="http://schemas.microsoft.com/office/drawing/2014/main" id="{112F93A0-B874-4E32-1BE1-91B71F8CF107}"/>
              </a:ext>
            </a:extLst>
          </p:cNvPr>
          <p:cNvPicPr>
            <a:picLocks noChangeAspect="1"/>
          </p:cNvPicPr>
          <p:nvPr/>
        </p:nvPicPr>
        <p:blipFill>
          <a:blip r:embed="rId4"/>
          <a:stretch>
            <a:fillRect/>
          </a:stretch>
        </p:blipFill>
        <p:spPr>
          <a:xfrm>
            <a:off x="1806389" y="3857014"/>
            <a:ext cx="7772400" cy="2545545"/>
          </a:xfrm>
          <a:prstGeom prst="rect">
            <a:avLst/>
          </a:prstGeom>
        </p:spPr>
      </p:pic>
      <p:sp>
        <p:nvSpPr>
          <p:cNvPr id="9" name="TextBox 8">
            <a:extLst>
              <a:ext uri="{FF2B5EF4-FFF2-40B4-BE49-F238E27FC236}">
                <a16:creationId xmlns:a16="http://schemas.microsoft.com/office/drawing/2014/main" id="{497CC28A-D36F-148C-E680-1B7C39491401}"/>
              </a:ext>
            </a:extLst>
          </p:cNvPr>
          <p:cNvSpPr txBox="1"/>
          <p:nvPr/>
        </p:nvSpPr>
        <p:spPr>
          <a:xfrm>
            <a:off x="434789" y="956231"/>
            <a:ext cx="1810870" cy="369332"/>
          </a:xfrm>
          <a:prstGeom prst="rect">
            <a:avLst/>
          </a:prstGeom>
          <a:noFill/>
        </p:spPr>
        <p:txBody>
          <a:bodyPr wrap="square" rtlCol="0">
            <a:spAutoFit/>
          </a:bodyPr>
          <a:lstStyle/>
          <a:p>
            <a:r>
              <a:rPr lang="en-US" dirty="0"/>
              <a:t>15 dimensions</a:t>
            </a:r>
          </a:p>
        </p:txBody>
      </p:sp>
      <p:sp>
        <p:nvSpPr>
          <p:cNvPr id="10" name="TextBox 9">
            <a:extLst>
              <a:ext uri="{FF2B5EF4-FFF2-40B4-BE49-F238E27FC236}">
                <a16:creationId xmlns:a16="http://schemas.microsoft.com/office/drawing/2014/main" id="{89C48EF2-4C2C-1EBF-6BC3-F993B743CB96}"/>
              </a:ext>
            </a:extLst>
          </p:cNvPr>
          <p:cNvSpPr txBox="1"/>
          <p:nvPr/>
        </p:nvSpPr>
        <p:spPr>
          <a:xfrm>
            <a:off x="434789" y="3597280"/>
            <a:ext cx="1810870" cy="369332"/>
          </a:xfrm>
          <a:prstGeom prst="rect">
            <a:avLst/>
          </a:prstGeom>
          <a:noFill/>
        </p:spPr>
        <p:txBody>
          <a:bodyPr wrap="square" rtlCol="0">
            <a:spAutoFit/>
          </a:bodyPr>
          <a:lstStyle/>
          <a:p>
            <a:r>
              <a:rPr lang="en-US" dirty="0"/>
              <a:t>20 dimensions</a:t>
            </a:r>
          </a:p>
        </p:txBody>
      </p:sp>
    </p:spTree>
    <p:extLst>
      <p:ext uri="{BB962C8B-B14F-4D97-AF65-F5344CB8AC3E}">
        <p14:creationId xmlns:p14="http://schemas.microsoft.com/office/powerpoint/2010/main" val="1019451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2710</TotalTime>
  <Words>998</Words>
  <Application>Microsoft Macintosh PowerPoint</Application>
  <PresentationFormat>Widescreen</PresentationFormat>
  <Paragraphs>133</Paragraphs>
  <Slides>23</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Google Sans</vt:lpstr>
      <vt:lpstr>Menlo</vt:lpstr>
      <vt:lpstr>Office Theme</vt:lpstr>
      <vt:lpstr>Event Similarity in GDELT via Semantic Search </vt:lpstr>
      <vt:lpstr>GDELT Database</vt:lpstr>
      <vt:lpstr>Event similarity</vt:lpstr>
      <vt:lpstr>GSG: GDELT</vt:lpstr>
      <vt:lpstr>Summarize articles</vt:lpstr>
      <vt:lpstr>PowerPoint Presentation</vt:lpstr>
      <vt:lpstr>PowerPoint Presentation</vt:lpstr>
      <vt:lpstr>PowerPoint Presentation</vt:lpstr>
      <vt:lpstr>PowerPoint Presentation</vt:lpstr>
      <vt:lpstr>PowerPoint Presentation</vt:lpstr>
      <vt:lpstr>Summarize articles</vt:lpstr>
      <vt:lpstr>Summarize titles</vt:lpstr>
      <vt:lpstr>PowerPoint Presentation</vt:lpstr>
      <vt:lpstr>Conflict and Mediation Event Observations (CAMEO) </vt:lpstr>
      <vt:lpstr>Semi-supervised</vt:lpstr>
      <vt:lpstr>Contrastive Loss</vt:lpstr>
      <vt:lpstr>Contrastive Loss</vt:lpstr>
      <vt:lpstr>PowerPoint Presentation</vt:lpstr>
      <vt:lpstr>PowerPoint Presentation</vt:lpstr>
      <vt:lpstr>validate</vt:lpstr>
      <vt:lpstr>Margin parameter</vt:lpstr>
      <vt:lpstr>Margin parameter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Lugos</dc:creator>
  <cp:lastModifiedBy>Emily Lugos</cp:lastModifiedBy>
  <cp:revision>4</cp:revision>
  <dcterms:created xsi:type="dcterms:W3CDTF">2025-12-07T19:10:23Z</dcterms:created>
  <dcterms:modified xsi:type="dcterms:W3CDTF">2025-12-09T16:20:32Z</dcterms:modified>
</cp:coreProperties>
</file>